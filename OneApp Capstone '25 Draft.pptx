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aleway"/>
      <p:regular r:id="rId18"/>
      <p:bold r:id="rId19"/>
      <p:italic r:id="rId20"/>
      <p:boldItalic r:id="rId21"/>
    </p:embeddedFont>
    <p:embeddedFont>
      <p:font typeface="La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italic.fntdata"/><Relationship Id="rId22" Type="http://schemas.openxmlformats.org/officeDocument/2006/relationships/font" Target="fonts/Lato-regular.fntdata"/><Relationship Id="rId21" Type="http://schemas.openxmlformats.org/officeDocument/2006/relationships/font" Target="fonts/Raleway-boldItalic.fntdata"/><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aleway-bold.fntdata"/><Relationship Id="rId18" Type="http://schemas.openxmlformats.org/officeDocument/2006/relationships/font" Target="fonts/Raleway-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Introduce each member, and our connections with the project.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Hello everyone, today we will be discussing our capstone project in which we have been </a:t>
            </a:r>
            <a:r>
              <a:rPr lang="en-GB"/>
              <a:t>working</a:t>
            </a:r>
            <a:r>
              <a:rPr lang="en-GB"/>
              <a:t> with the company OneApp Guarantee. Our group members include myself, Yatnary, Jawahir, Kevin, Emily, and Manaswini.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Prior to this project, I had no experience with the housing industry, but I believe the work that One App Guarantee does is important because it helps renters overcome financial and credit barriers, making housing more accessible and equitable.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*Ask if anyone else wants to share their connections with the project*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f88252dc4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f88252dc4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Today we will be introducing our project, what our </a:t>
            </a:r>
            <a:r>
              <a:rPr lang="en-GB"/>
              <a:t>company does, updates on our meetings up to date, our scope of work, an update on our progress, early insights, where were headed, and our conclusion.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f88252dc4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1f88252dc4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Our project focuses on housing analytics in relation to the One App Guarantee program.</a:t>
            </a:r>
            <a:endParaRPr/>
          </a:p>
          <a:p>
            <a:pPr indent="0" lvl="0" marL="0" rtl="0" algn="l">
              <a:lnSpc>
                <a:spcPct val="115000"/>
              </a:lnSpc>
              <a:spcBef>
                <a:spcPts val="1200"/>
              </a:spcBef>
              <a:spcAft>
                <a:spcPts val="0"/>
              </a:spcAft>
              <a:buClr>
                <a:schemeClr val="dk1"/>
              </a:buClr>
              <a:buSzPts val="1100"/>
              <a:buFont typeface="Arial"/>
              <a:buNone/>
            </a:pPr>
            <a:r>
              <a:rPr lang="en-GB"/>
              <a:t>The goal of our work is to provide actionable insights that can help improve both housing accessibility and the overall effectiveness of the program. By analyzing key data points, we aim to identify trends, challenges, and opportunities that can support better decision-making for both renters and landlords.</a:t>
            </a:r>
            <a:endParaRPr/>
          </a:p>
          <a:p>
            <a:pPr indent="0" lvl="0" marL="0" rtl="0" algn="l">
              <a:lnSpc>
                <a:spcPct val="115000"/>
              </a:lnSpc>
              <a:spcBef>
                <a:spcPts val="1200"/>
              </a:spcBef>
              <a:spcAft>
                <a:spcPts val="0"/>
              </a:spcAft>
              <a:buClr>
                <a:schemeClr val="dk1"/>
              </a:buClr>
              <a:buSzPts val="1100"/>
              <a:buFont typeface="Arial"/>
              <a:buNone/>
            </a:pPr>
            <a:r>
              <a:rPr lang="en-GB"/>
              <a:t>To achieve this, we are leveraging data analytics to explore various factors, including financial risk, economic conditions, and the frameworks used to measure success. Through this analysis, we hope to contribute to a more inclusive and efficient rental market that benefits all stakeholders involved.</a:t>
            </a:r>
            <a:endParaRPr/>
          </a:p>
          <a:p>
            <a:pPr indent="0" lvl="0" marL="45720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f88252dc4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f88252dc4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4004de22a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4004de22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f88252dc4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f88252dc4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Emily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f88252dc4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f88252dc4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Emily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f88252dc4_0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f88252dc4_0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f88252dc4_0_10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f88252dc4_0_10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f88252dc4_0_1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f88252dc4_0_1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f88252dc4_0_1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f88252dc4_0_1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f88252dc4_0_1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f88252dc4_0_1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 Id="rId6" Type="http://schemas.openxmlformats.org/officeDocument/2006/relationships/slide" Target="/ppt/slides/slide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p:cSld name="SECTION_HEADER_1">
    <p:bg>
      <p:bgPr>
        <a:solidFill>
          <a:schemeClr val="dk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1308150" y="1318650"/>
            <a:ext cx="7110000" cy="535200"/>
          </a:xfrm>
          <a:prstGeom prst="rect">
            <a:avLst/>
          </a:prstGeom>
        </p:spPr>
        <p:txBody>
          <a:bodyPr anchorCtr="0" anchor="t" bIns="91425" lIns="91425" spcFirstLastPara="1" rIns="91425" wrap="square" tIns="91425">
            <a:normAutofit/>
          </a:bodyPr>
          <a:lstStyle>
            <a:lvl1pPr lvl="0">
              <a:spcBef>
                <a:spcPts val="0"/>
              </a:spcBef>
              <a:spcAft>
                <a:spcPts val="0"/>
              </a:spcAft>
              <a:buClr>
                <a:srgbClr val="FFFFFF"/>
              </a:buClr>
              <a:buSzPts val="2600"/>
              <a:buNone/>
              <a:defRPr sz="2600">
                <a:solidFill>
                  <a:srgbClr val="FFFFFF"/>
                </a:solidFill>
              </a:defRPr>
            </a:lvl1pPr>
            <a:lvl2pPr lvl="1">
              <a:spcBef>
                <a:spcPts val="0"/>
              </a:spcBef>
              <a:spcAft>
                <a:spcPts val="0"/>
              </a:spcAft>
              <a:buClr>
                <a:srgbClr val="FFFFFF"/>
              </a:buClr>
              <a:buSzPts val="2600"/>
              <a:buNone/>
              <a:defRPr sz="2600">
                <a:solidFill>
                  <a:srgbClr val="FFFFFF"/>
                </a:solidFill>
              </a:defRPr>
            </a:lvl2pPr>
            <a:lvl3pPr lvl="2">
              <a:spcBef>
                <a:spcPts val="0"/>
              </a:spcBef>
              <a:spcAft>
                <a:spcPts val="0"/>
              </a:spcAft>
              <a:buClr>
                <a:srgbClr val="FFFFFF"/>
              </a:buClr>
              <a:buSzPts val="2600"/>
              <a:buNone/>
              <a:defRPr sz="2600">
                <a:solidFill>
                  <a:srgbClr val="FFFFFF"/>
                </a:solidFill>
              </a:defRPr>
            </a:lvl3pPr>
            <a:lvl4pPr lvl="3">
              <a:spcBef>
                <a:spcPts val="0"/>
              </a:spcBef>
              <a:spcAft>
                <a:spcPts val="0"/>
              </a:spcAft>
              <a:buClr>
                <a:srgbClr val="FFFFFF"/>
              </a:buClr>
              <a:buSzPts val="2600"/>
              <a:buNone/>
              <a:defRPr sz="2600">
                <a:solidFill>
                  <a:srgbClr val="FFFFFF"/>
                </a:solidFill>
              </a:defRPr>
            </a:lvl4pPr>
            <a:lvl5pPr lvl="4">
              <a:spcBef>
                <a:spcPts val="0"/>
              </a:spcBef>
              <a:spcAft>
                <a:spcPts val="0"/>
              </a:spcAft>
              <a:buClr>
                <a:srgbClr val="FFFFFF"/>
              </a:buClr>
              <a:buSzPts val="2600"/>
              <a:buNone/>
              <a:defRPr sz="2600">
                <a:solidFill>
                  <a:srgbClr val="FFFFFF"/>
                </a:solidFill>
              </a:defRPr>
            </a:lvl5pPr>
            <a:lvl6pPr lvl="5">
              <a:spcBef>
                <a:spcPts val="0"/>
              </a:spcBef>
              <a:spcAft>
                <a:spcPts val="0"/>
              </a:spcAft>
              <a:buClr>
                <a:srgbClr val="FFFFFF"/>
              </a:buClr>
              <a:buSzPts val="2600"/>
              <a:buNone/>
              <a:defRPr sz="2600">
                <a:solidFill>
                  <a:srgbClr val="FFFFFF"/>
                </a:solidFill>
              </a:defRPr>
            </a:lvl6pPr>
            <a:lvl7pPr lvl="6">
              <a:spcBef>
                <a:spcPts val="0"/>
              </a:spcBef>
              <a:spcAft>
                <a:spcPts val="0"/>
              </a:spcAft>
              <a:buClr>
                <a:srgbClr val="FFFFFF"/>
              </a:buClr>
              <a:buSzPts val="2600"/>
              <a:buNone/>
              <a:defRPr sz="2600">
                <a:solidFill>
                  <a:srgbClr val="FFFFFF"/>
                </a:solidFill>
              </a:defRPr>
            </a:lvl7pPr>
            <a:lvl8pPr lvl="7">
              <a:spcBef>
                <a:spcPts val="0"/>
              </a:spcBef>
              <a:spcAft>
                <a:spcPts val="0"/>
              </a:spcAft>
              <a:buClr>
                <a:srgbClr val="FFFFFF"/>
              </a:buClr>
              <a:buSzPts val="2600"/>
              <a:buNone/>
              <a:defRPr sz="2600">
                <a:solidFill>
                  <a:srgbClr val="FFFFFF"/>
                </a:solidFill>
              </a:defRPr>
            </a:lvl8pPr>
            <a:lvl9pPr lvl="8">
              <a:spcBef>
                <a:spcPts val="0"/>
              </a:spcBef>
              <a:spcAft>
                <a:spcPts val="0"/>
              </a:spcAft>
              <a:buClr>
                <a:srgbClr val="FFFFFF"/>
              </a:buClr>
              <a:buSzPts val="2600"/>
              <a:buNone/>
              <a:defRPr sz="2600">
                <a:solidFill>
                  <a:srgbClr val="FFFFFF"/>
                </a:solidFill>
              </a:defRPr>
            </a:lvl9pPr>
          </a:lstStyle>
          <a:p/>
        </p:txBody>
      </p:sp>
      <p:sp>
        <p:nvSpPr>
          <p:cNvPr id="84" name="Google Shape;84;p1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
        <p:nvSpPr>
          <p:cNvPr id="85" name="Google Shape;85;p13"/>
          <p:cNvSpPr txBox="1"/>
          <p:nvPr/>
        </p:nvSpPr>
        <p:spPr>
          <a:xfrm>
            <a:off x="226550" y="78500"/>
            <a:ext cx="998100" cy="32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600">
                <a:solidFill>
                  <a:srgbClr val="FFFFFF"/>
                </a:solidFill>
                <a:latin typeface="Raleway"/>
                <a:ea typeface="Raleway"/>
                <a:cs typeface="Raleway"/>
                <a:sym typeface="Raleway"/>
              </a:rPr>
              <a:t>Confidential</a:t>
            </a:r>
            <a:endParaRPr b="1" sz="600">
              <a:solidFill>
                <a:srgbClr val="FFFFFF"/>
              </a:solidFill>
              <a:latin typeface="Raleway"/>
              <a:ea typeface="Raleway"/>
              <a:cs typeface="Raleway"/>
              <a:sym typeface="Raleway"/>
            </a:endParaRPr>
          </a:p>
        </p:txBody>
      </p:sp>
      <p:sp>
        <p:nvSpPr>
          <p:cNvPr id="86" name="Google Shape;86;p13"/>
          <p:cNvSpPr txBox="1"/>
          <p:nvPr/>
        </p:nvSpPr>
        <p:spPr>
          <a:xfrm>
            <a:off x="1296767" y="78500"/>
            <a:ext cx="2100600" cy="321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600">
                <a:solidFill>
                  <a:srgbClr val="FFFFFF"/>
                </a:solidFill>
                <a:latin typeface="Raleway"/>
                <a:ea typeface="Raleway"/>
                <a:cs typeface="Raleway"/>
                <a:sym typeface="Raleway"/>
              </a:rPr>
              <a:t>Customized for </a:t>
            </a:r>
            <a:r>
              <a:rPr b="1" lang="en-GB" sz="600">
                <a:solidFill>
                  <a:srgbClr val="FFFFFF"/>
                </a:solidFill>
                <a:latin typeface="Raleway"/>
                <a:ea typeface="Raleway"/>
                <a:cs typeface="Raleway"/>
                <a:sym typeface="Raleway"/>
              </a:rPr>
              <a:t>Lorem Ipsum LLC</a:t>
            </a:r>
            <a:endParaRPr sz="600">
              <a:solidFill>
                <a:srgbClr val="FFFFFF"/>
              </a:solidFill>
              <a:latin typeface="Raleway"/>
              <a:ea typeface="Raleway"/>
              <a:cs typeface="Raleway"/>
              <a:sym typeface="Raleway"/>
            </a:endParaRPr>
          </a:p>
        </p:txBody>
      </p:sp>
      <p:sp>
        <p:nvSpPr>
          <p:cNvPr id="87" name="Google Shape;87;p13"/>
          <p:cNvSpPr txBox="1"/>
          <p:nvPr/>
        </p:nvSpPr>
        <p:spPr>
          <a:xfrm>
            <a:off x="8213935" y="78500"/>
            <a:ext cx="705900" cy="32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600">
                <a:solidFill>
                  <a:srgbClr val="FFFFFF"/>
                </a:solidFill>
                <a:latin typeface="Raleway"/>
                <a:ea typeface="Raleway"/>
                <a:cs typeface="Raleway"/>
                <a:sym typeface="Raleway"/>
              </a:rPr>
              <a:t>Version 1.0</a:t>
            </a:r>
            <a:endParaRPr b="1" sz="600">
              <a:solidFill>
                <a:srgbClr val="FFFFFF"/>
              </a:solidFill>
              <a:latin typeface="Raleway"/>
              <a:ea typeface="Raleway"/>
              <a:cs typeface="Raleway"/>
              <a:sym typeface="Raleway"/>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_alt1">
  <p:cSld name="SECTION_HEADER_2">
    <p:bg>
      <p:bgPr>
        <a:solidFill>
          <a:srgbClr val="434343"/>
        </a:solidFill>
      </p:bgPr>
    </p:bg>
    <p:spTree>
      <p:nvGrpSpPr>
        <p:cNvPr id="88" name="Shape 88"/>
        <p:cNvGrpSpPr/>
        <p:nvPr/>
      </p:nvGrpSpPr>
      <p:grpSpPr>
        <a:xfrm>
          <a:off x="0" y="0"/>
          <a:ext cx="0" cy="0"/>
          <a:chOff x="0" y="0"/>
          <a:chExt cx="0" cy="0"/>
        </a:xfrm>
      </p:grpSpPr>
      <p:grpSp>
        <p:nvGrpSpPr>
          <p:cNvPr id="89" name="Google Shape;89;p14"/>
          <p:cNvGrpSpPr/>
          <p:nvPr/>
        </p:nvGrpSpPr>
        <p:grpSpPr>
          <a:xfrm>
            <a:off x="830392" y="1191256"/>
            <a:ext cx="745763" cy="45826"/>
            <a:chOff x="4580561" y="2589004"/>
            <a:chExt cx="1064464" cy="25200"/>
          </a:xfrm>
        </p:grpSpPr>
        <p:sp>
          <p:nvSpPr>
            <p:cNvPr id="90" name="Google Shape;90;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 name="Google Shape;92;p1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
        <p:nvSpPr>
          <p:cNvPr id="94" name="Google Shape;94;p14">
            <a:hlinkClick action="ppaction://hlinksldjump" r:id="rId2"/>
          </p:cNvPr>
          <p:cNvSpPr/>
          <p:nvPr/>
        </p:nvSpPr>
        <p:spPr>
          <a:xfrm>
            <a:off x="8280450" y="0"/>
            <a:ext cx="863400" cy="454200"/>
          </a:xfrm>
          <a:prstGeom prst="rect">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5" name="Google Shape;95;p14">
            <a:hlinkClick action="ppaction://hlinksldjump" r:id="rId3"/>
          </p:cNvPr>
          <p:cNvCxnSpPr/>
          <p:nvPr/>
        </p:nvCxnSpPr>
        <p:spPr>
          <a:xfrm>
            <a:off x="8598817" y="216350"/>
            <a:ext cx="216300" cy="0"/>
          </a:xfrm>
          <a:prstGeom prst="straightConnector1">
            <a:avLst/>
          </a:prstGeom>
          <a:noFill/>
          <a:ln cap="flat" cmpd="sng" w="9525">
            <a:solidFill>
              <a:schemeClr val="lt2"/>
            </a:solidFill>
            <a:prstDash val="solid"/>
            <a:round/>
            <a:headEnd len="med" w="med" type="none"/>
            <a:tailEnd len="med" w="med" type="none"/>
          </a:ln>
        </p:spPr>
      </p:cxnSp>
      <p:cxnSp>
        <p:nvCxnSpPr>
          <p:cNvPr id="96" name="Google Shape;96;p14">
            <a:hlinkClick action="ppaction://hlinksldjump" r:id="rId4"/>
          </p:cNvPr>
          <p:cNvCxnSpPr/>
          <p:nvPr/>
        </p:nvCxnSpPr>
        <p:spPr>
          <a:xfrm>
            <a:off x="8598817" y="250138"/>
            <a:ext cx="216300" cy="0"/>
          </a:xfrm>
          <a:prstGeom prst="straightConnector1">
            <a:avLst/>
          </a:prstGeom>
          <a:noFill/>
          <a:ln cap="flat" cmpd="sng" w="9525">
            <a:solidFill>
              <a:schemeClr val="lt2"/>
            </a:solidFill>
            <a:prstDash val="solid"/>
            <a:round/>
            <a:headEnd len="med" w="med" type="none"/>
            <a:tailEnd len="med" w="med" type="none"/>
          </a:ln>
        </p:spPr>
      </p:cxnSp>
      <p:cxnSp>
        <p:nvCxnSpPr>
          <p:cNvPr id="97" name="Google Shape;97;p14">
            <a:hlinkClick action="ppaction://hlinksldjump" r:id="rId5"/>
          </p:cNvPr>
          <p:cNvCxnSpPr/>
          <p:nvPr/>
        </p:nvCxnSpPr>
        <p:spPr>
          <a:xfrm>
            <a:off x="8598817" y="283925"/>
            <a:ext cx="216300" cy="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_alt1">
  <p:cSld name="TITLE_1">
    <p:bg>
      <p:bgPr>
        <a:solidFill>
          <a:schemeClr val="lt2"/>
        </a:solidFill>
      </p:bgPr>
    </p:bg>
    <p:spTree>
      <p:nvGrpSpPr>
        <p:cNvPr id="98" name="Shape 98"/>
        <p:cNvGrpSpPr/>
        <p:nvPr/>
      </p:nvGrpSpPr>
      <p:grpSpPr>
        <a:xfrm>
          <a:off x="0" y="0"/>
          <a:ext cx="0" cy="0"/>
          <a:chOff x="0" y="0"/>
          <a:chExt cx="0" cy="0"/>
        </a:xfrm>
      </p:grpSpPr>
      <p:pic>
        <p:nvPicPr>
          <p:cNvPr descr="shutterstock_429987889_edited.jpg" id="99" name="Google Shape;99;p15"/>
          <p:cNvPicPr preferRelativeResize="0"/>
          <p:nvPr/>
        </p:nvPicPr>
        <p:blipFill rotWithShape="1">
          <a:blip r:embed="rId2">
            <a:alphaModFix/>
          </a:blip>
          <a:srcRect b="23591" l="0" r="0" t="21799"/>
          <a:stretch/>
        </p:blipFill>
        <p:spPr>
          <a:xfrm>
            <a:off x="0" y="487825"/>
            <a:ext cx="9144000" cy="4655676"/>
          </a:xfrm>
          <a:prstGeom prst="rect">
            <a:avLst/>
          </a:prstGeom>
          <a:noFill/>
          <a:ln>
            <a:noFill/>
          </a:ln>
        </p:spPr>
      </p:pic>
      <p:sp>
        <p:nvSpPr>
          <p:cNvPr id="100" name="Google Shape;100;p15"/>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 name="Google Shape;101;p15"/>
          <p:cNvGrpSpPr/>
          <p:nvPr/>
        </p:nvGrpSpPr>
        <p:grpSpPr>
          <a:xfrm>
            <a:off x="830392" y="1191256"/>
            <a:ext cx="745763" cy="45826"/>
            <a:chOff x="4580561" y="2589004"/>
            <a:chExt cx="1064464" cy="25200"/>
          </a:xfrm>
        </p:grpSpPr>
        <p:sp>
          <p:nvSpPr>
            <p:cNvPr id="102" name="Google Shape;102;p1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1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05" name="Google Shape;105;p1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06" name="Google Shape;106;p1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07" name="Google Shape;107;p15">
            <a:hlinkClick action="ppaction://hlinksldjump" r:id="rId3"/>
          </p:cNvPr>
          <p:cNvSpPr/>
          <p:nvPr/>
        </p:nvSpPr>
        <p:spPr>
          <a:xfrm>
            <a:off x="8280450" y="0"/>
            <a:ext cx="863400" cy="45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8" name="Google Shape;108;p15">
            <a:hlinkClick action="ppaction://hlinksldjump" r:id="rId4"/>
          </p:cNvPr>
          <p:cNvCxnSpPr/>
          <p:nvPr/>
        </p:nvCxnSpPr>
        <p:spPr>
          <a:xfrm>
            <a:off x="8598817" y="216350"/>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09" name="Google Shape;109;p15">
            <a:hlinkClick action="ppaction://hlinksldjump" r:id="rId5"/>
          </p:cNvPr>
          <p:cNvCxnSpPr/>
          <p:nvPr/>
        </p:nvCxnSpPr>
        <p:spPr>
          <a:xfrm>
            <a:off x="8598817" y="250138"/>
            <a:ext cx="216300" cy="0"/>
          </a:xfrm>
          <a:prstGeom prst="straightConnector1">
            <a:avLst/>
          </a:prstGeom>
          <a:noFill/>
          <a:ln cap="flat" cmpd="sng" w="9525">
            <a:solidFill>
              <a:srgbClr val="B7B7B7"/>
            </a:solidFill>
            <a:prstDash val="solid"/>
            <a:round/>
            <a:headEnd len="med" w="med" type="none"/>
            <a:tailEnd len="med" w="med" type="none"/>
          </a:ln>
        </p:spPr>
      </p:cxnSp>
      <p:cxnSp>
        <p:nvCxnSpPr>
          <p:cNvPr id="110" name="Google Shape;110;p15">
            <a:hlinkClick action="ppaction://hlinksldjump" r:id="rId6"/>
          </p:cNvPr>
          <p:cNvCxnSpPr/>
          <p:nvPr/>
        </p:nvCxnSpPr>
        <p:spPr>
          <a:xfrm>
            <a:off x="8598817" y="283925"/>
            <a:ext cx="216300" cy="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4" name="Shape 114"/>
        <p:cNvGrpSpPr/>
        <p:nvPr/>
      </p:nvGrpSpPr>
      <p:grpSpPr>
        <a:xfrm>
          <a:off x="0" y="0"/>
          <a:ext cx="0" cy="0"/>
          <a:chOff x="0" y="0"/>
          <a:chExt cx="0" cy="0"/>
        </a:xfrm>
      </p:grpSpPr>
      <p:sp>
        <p:nvSpPr>
          <p:cNvPr id="115" name="Google Shape;115;p16"/>
          <p:cNvSpPr txBox="1"/>
          <p:nvPr>
            <p:ph type="title"/>
          </p:nvPr>
        </p:nvSpPr>
        <p:spPr>
          <a:xfrm>
            <a:off x="730000" y="1318650"/>
            <a:ext cx="3300900" cy="1687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4800">
                <a:solidFill>
                  <a:srgbClr val="000000"/>
                </a:solidFill>
              </a:rPr>
              <a:t>Mid Project </a:t>
            </a:r>
            <a:endParaRPr sz="4800">
              <a:solidFill>
                <a:srgbClr val="000000"/>
              </a:solidFill>
            </a:endParaRPr>
          </a:p>
          <a:p>
            <a:pPr indent="0" lvl="0" marL="0" rtl="0" algn="l">
              <a:spcBef>
                <a:spcPts val="0"/>
              </a:spcBef>
              <a:spcAft>
                <a:spcPts val="0"/>
              </a:spcAft>
              <a:buNone/>
            </a:pPr>
            <a:r>
              <a:rPr lang="en-GB" sz="4800">
                <a:solidFill>
                  <a:srgbClr val="000000"/>
                </a:solidFill>
              </a:rPr>
              <a:t>Update</a:t>
            </a:r>
            <a:endParaRPr sz="4800">
              <a:solidFill>
                <a:srgbClr val="000000"/>
              </a:solidFill>
            </a:endParaRPr>
          </a:p>
        </p:txBody>
      </p:sp>
      <p:sp>
        <p:nvSpPr>
          <p:cNvPr id="116" name="Google Shape;116;p16"/>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SzPts val="688"/>
              <a:buNone/>
            </a:pPr>
            <a:r>
              <a:rPr b="1" lang="en-GB" sz="1187">
                <a:solidFill>
                  <a:srgbClr val="000000"/>
                </a:solidFill>
                <a:latin typeface="Arial"/>
                <a:ea typeface="Arial"/>
                <a:cs typeface="Arial"/>
                <a:sym typeface="Arial"/>
              </a:rPr>
              <a:t>Housing Analytics for OneApp Guarantee Users</a:t>
            </a:r>
            <a:endParaRPr b="1" sz="1187">
              <a:solidFill>
                <a:srgbClr val="000000"/>
              </a:solidFill>
              <a:latin typeface="Arial"/>
              <a:ea typeface="Arial"/>
              <a:cs typeface="Arial"/>
              <a:sym typeface="Arial"/>
            </a:endParaRPr>
          </a:p>
          <a:p>
            <a:pPr indent="0" lvl="0" marL="0" rtl="0" algn="l">
              <a:lnSpc>
                <a:spcPct val="80000"/>
              </a:lnSpc>
              <a:spcBef>
                <a:spcPts val="0"/>
              </a:spcBef>
              <a:spcAft>
                <a:spcPts val="0"/>
              </a:spcAft>
              <a:buSzPts val="688"/>
              <a:buNone/>
            </a:pPr>
            <a:r>
              <a:t/>
            </a:r>
            <a:endParaRPr i="1" sz="1187">
              <a:solidFill>
                <a:srgbClr val="000000"/>
              </a:solidFill>
              <a:latin typeface="Arial"/>
              <a:ea typeface="Arial"/>
              <a:cs typeface="Arial"/>
              <a:sym typeface="Arial"/>
            </a:endParaRPr>
          </a:p>
          <a:p>
            <a:pPr indent="0" lvl="0" marL="0" rtl="0" algn="l">
              <a:lnSpc>
                <a:spcPct val="80000"/>
              </a:lnSpc>
              <a:spcBef>
                <a:spcPts val="0"/>
              </a:spcBef>
              <a:spcAft>
                <a:spcPts val="0"/>
              </a:spcAft>
              <a:buSzPts val="688"/>
              <a:buNone/>
            </a:pPr>
            <a:r>
              <a:rPr lang="en-GB" sz="1187">
                <a:solidFill>
                  <a:srgbClr val="000000"/>
                </a:solidFill>
                <a:latin typeface="Arial"/>
                <a:ea typeface="Arial"/>
                <a:cs typeface="Arial"/>
                <a:sym typeface="Arial"/>
              </a:rPr>
              <a:t>Portland State University Capstone Project</a:t>
            </a:r>
            <a:endParaRPr sz="1187">
              <a:solidFill>
                <a:srgbClr val="000000"/>
              </a:solidFill>
              <a:latin typeface="Arial"/>
              <a:ea typeface="Arial"/>
              <a:cs typeface="Arial"/>
              <a:sym typeface="Arial"/>
            </a:endParaRPr>
          </a:p>
          <a:p>
            <a:pPr indent="0" lvl="0" marL="0" rtl="0" algn="l">
              <a:lnSpc>
                <a:spcPct val="80000"/>
              </a:lnSpc>
              <a:spcBef>
                <a:spcPts val="0"/>
              </a:spcBef>
              <a:spcAft>
                <a:spcPts val="0"/>
              </a:spcAft>
              <a:buSzPts val="688"/>
              <a:buNone/>
            </a:pPr>
            <a:r>
              <a:rPr lang="en-GB" sz="1187">
                <a:solidFill>
                  <a:srgbClr val="000000"/>
                </a:solidFill>
                <a:latin typeface="Arial"/>
                <a:ea typeface="Arial"/>
                <a:cs typeface="Arial"/>
                <a:sym typeface="Arial"/>
              </a:rPr>
              <a:t>Team Members: Yatnary, Jawahir, Kevin, Emily, Manas</a:t>
            </a:r>
            <a:endParaRPr b="1" sz="1375"/>
          </a:p>
        </p:txBody>
      </p:sp>
      <p:pic>
        <p:nvPicPr>
          <p:cNvPr id="117" name="Google Shape;117;p16"/>
          <p:cNvPicPr preferRelativeResize="0"/>
          <p:nvPr/>
        </p:nvPicPr>
        <p:blipFill>
          <a:blip r:embed="rId4">
            <a:alphaModFix/>
          </a:blip>
          <a:stretch>
            <a:fillRect/>
          </a:stretch>
        </p:blipFill>
        <p:spPr>
          <a:xfrm>
            <a:off x="5197400" y="1003725"/>
            <a:ext cx="3374400" cy="3374400"/>
          </a:xfrm>
          <a:prstGeom prst="rect">
            <a:avLst/>
          </a:prstGeom>
          <a:noFill/>
          <a:ln>
            <a:noFill/>
          </a:ln>
        </p:spPr>
      </p:pic>
      <p:sp>
        <p:nvSpPr>
          <p:cNvPr id="118" name="Google Shape;118;p1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2" name="Shape 122"/>
        <p:cNvGrpSpPr/>
        <p:nvPr/>
      </p:nvGrpSpPr>
      <p:grpSpPr>
        <a:xfrm>
          <a:off x="0" y="0"/>
          <a:ext cx="0" cy="0"/>
          <a:chOff x="0" y="0"/>
          <a:chExt cx="0" cy="0"/>
        </a:xfrm>
      </p:grpSpPr>
      <p:sp>
        <p:nvSpPr>
          <p:cNvPr id="123" name="Google Shape;123;p17"/>
          <p:cNvSpPr txBox="1"/>
          <p:nvPr>
            <p:ph type="title"/>
          </p:nvPr>
        </p:nvSpPr>
        <p:spPr>
          <a:xfrm>
            <a:off x="1308150" y="1318650"/>
            <a:ext cx="71100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Overview</a:t>
            </a:r>
            <a:endParaRPr/>
          </a:p>
        </p:txBody>
      </p:sp>
      <p:sp>
        <p:nvSpPr>
          <p:cNvPr id="124" name="Google Shape;124;p17"/>
          <p:cNvSpPr txBox="1"/>
          <p:nvPr/>
        </p:nvSpPr>
        <p:spPr>
          <a:xfrm>
            <a:off x="1293838" y="2303219"/>
            <a:ext cx="16077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300">
                <a:solidFill>
                  <a:srgbClr val="FFFFFF"/>
                </a:solidFill>
                <a:latin typeface="Raleway"/>
                <a:ea typeface="Raleway"/>
                <a:cs typeface="Raleway"/>
                <a:sym typeface="Raleway"/>
              </a:rPr>
              <a:t>Introduction</a:t>
            </a:r>
            <a:endParaRPr sz="1300">
              <a:solidFill>
                <a:srgbClr val="FFFFFF"/>
              </a:solidFill>
              <a:latin typeface="Raleway"/>
              <a:ea typeface="Raleway"/>
              <a:cs typeface="Raleway"/>
              <a:sym typeface="Raleway"/>
            </a:endParaRPr>
          </a:p>
        </p:txBody>
      </p:sp>
      <p:sp>
        <p:nvSpPr>
          <p:cNvPr id="125" name="Google Shape;125;p17"/>
          <p:cNvSpPr txBox="1"/>
          <p:nvPr/>
        </p:nvSpPr>
        <p:spPr>
          <a:xfrm>
            <a:off x="1293838" y="2704919"/>
            <a:ext cx="16077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300">
                <a:solidFill>
                  <a:srgbClr val="FFFFFF"/>
                </a:solidFill>
                <a:latin typeface="Raleway"/>
                <a:ea typeface="Raleway"/>
                <a:cs typeface="Raleway"/>
                <a:sym typeface="Raleway"/>
              </a:rPr>
              <a:t>What is OneApp</a:t>
            </a:r>
            <a:endParaRPr sz="1300">
              <a:solidFill>
                <a:srgbClr val="FFFFFF"/>
              </a:solidFill>
              <a:latin typeface="Raleway"/>
              <a:ea typeface="Raleway"/>
              <a:cs typeface="Raleway"/>
              <a:sym typeface="Raleway"/>
            </a:endParaRPr>
          </a:p>
        </p:txBody>
      </p:sp>
      <p:sp>
        <p:nvSpPr>
          <p:cNvPr id="126" name="Google Shape;126;p17"/>
          <p:cNvSpPr txBox="1"/>
          <p:nvPr/>
        </p:nvSpPr>
        <p:spPr>
          <a:xfrm>
            <a:off x="1293838" y="3106619"/>
            <a:ext cx="16077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300">
                <a:solidFill>
                  <a:srgbClr val="FFFFFF"/>
                </a:solidFill>
                <a:latin typeface="Raleway"/>
                <a:ea typeface="Raleway"/>
                <a:cs typeface="Raleway"/>
                <a:sym typeface="Raleway"/>
              </a:rPr>
              <a:t>Meeting Updates</a:t>
            </a:r>
            <a:endParaRPr sz="1300">
              <a:solidFill>
                <a:srgbClr val="FFFFFF"/>
              </a:solidFill>
              <a:latin typeface="Raleway"/>
              <a:ea typeface="Raleway"/>
              <a:cs typeface="Raleway"/>
              <a:sym typeface="Raleway"/>
            </a:endParaRPr>
          </a:p>
        </p:txBody>
      </p:sp>
      <p:sp>
        <p:nvSpPr>
          <p:cNvPr id="127" name="Google Shape;127;p17"/>
          <p:cNvSpPr txBox="1"/>
          <p:nvPr/>
        </p:nvSpPr>
        <p:spPr>
          <a:xfrm>
            <a:off x="1293838" y="3508319"/>
            <a:ext cx="16077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300">
                <a:solidFill>
                  <a:srgbClr val="FFFFFF"/>
                </a:solidFill>
                <a:latin typeface="Raleway"/>
                <a:ea typeface="Raleway"/>
                <a:cs typeface="Raleway"/>
                <a:sym typeface="Raleway"/>
              </a:rPr>
              <a:t>Scope of Work</a:t>
            </a:r>
            <a:endParaRPr sz="1300">
              <a:solidFill>
                <a:srgbClr val="FFFFFF"/>
              </a:solidFill>
              <a:latin typeface="Raleway"/>
              <a:ea typeface="Raleway"/>
              <a:cs typeface="Raleway"/>
              <a:sym typeface="Raleway"/>
            </a:endParaRPr>
          </a:p>
        </p:txBody>
      </p:sp>
      <p:sp>
        <p:nvSpPr>
          <p:cNvPr id="128" name="Google Shape;128;p17"/>
          <p:cNvSpPr txBox="1"/>
          <p:nvPr/>
        </p:nvSpPr>
        <p:spPr>
          <a:xfrm>
            <a:off x="3448432" y="2303219"/>
            <a:ext cx="16347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300">
                <a:solidFill>
                  <a:srgbClr val="FFFFFF"/>
                </a:solidFill>
                <a:latin typeface="Raleway"/>
                <a:ea typeface="Raleway"/>
                <a:cs typeface="Raleway"/>
                <a:sym typeface="Raleway"/>
              </a:rPr>
              <a:t>Progress Update</a:t>
            </a:r>
            <a:endParaRPr sz="1300">
              <a:solidFill>
                <a:srgbClr val="FFFFFF"/>
              </a:solidFill>
              <a:latin typeface="Raleway"/>
              <a:ea typeface="Raleway"/>
              <a:cs typeface="Raleway"/>
              <a:sym typeface="Raleway"/>
            </a:endParaRPr>
          </a:p>
        </p:txBody>
      </p:sp>
      <p:sp>
        <p:nvSpPr>
          <p:cNvPr id="129" name="Google Shape;129;p17"/>
          <p:cNvSpPr txBox="1"/>
          <p:nvPr/>
        </p:nvSpPr>
        <p:spPr>
          <a:xfrm>
            <a:off x="3448432" y="2704919"/>
            <a:ext cx="16347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300">
                <a:solidFill>
                  <a:srgbClr val="FFFFFF"/>
                </a:solidFill>
                <a:latin typeface="Raleway"/>
                <a:ea typeface="Raleway"/>
                <a:cs typeface="Raleway"/>
                <a:sym typeface="Raleway"/>
              </a:rPr>
              <a:t>Early Insights</a:t>
            </a:r>
            <a:endParaRPr sz="1300">
              <a:solidFill>
                <a:srgbClr val="FFFFFF"/>
              </a:solidFill>
              <a:latin typeface="Raleway"/>
              <a:ea typeface="Raleway"/>
              <a:cs typeface="Raleway"/>
              <a:sym typeface="Raleway"/>
            </a:endParaRPr>
          </a:p>
        </p:txBody>
      </p:sp>
      <p:sp>
        <p:nvSpPr>
          <p:cNvPr id="130" name="Google Shape;130;p17"/>
          <p:cNvSpPr txBox="1"/>
          <p:nvPr/>
        </p:nvSpPr>
        <p:spPr>
          <a:xfrm>
            <a:off x="3448423" y="3106625"/>
            <a:ext cx="19836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300">
                <a:solidFill>
                  <a:srgbClr val="FFFFFF"/>
                </a:solidFill>
                <a:latin typeface="Raleway"/>
                <a:ea typeface="Raleway"/>
                <a:cs typeface="Raleway"/>
                <a:sym typeface="Raleway"/>
              </a:rPr>
              <a:t>Where We’re Headed</a:t>
            </a:r>
            <a:endParaRPr sz="1300">
              <a:solidFill>
                <a:srgbClr val="FFFFFF"/>
              </a:solidFill>
              <a:latin typeface="Raleway"/>
              <a:ea typeface="Raleway"/>
              <a:cs typeface="Raleway"/>
              <a:sym typeface="Raleway"/>
            </a:endParaRPr>
          </a:p>
        </p:txBody>
      </p:sp>
      <p:sp>
        <p:nvSpPr>
          <p:cNvPr id="131" name="Google Shape;131;p17"/>
          <p:cNvSpPr txBox="1"/>
          <p:nvPr/>
        </p:nvSpPr>
        <p:spPr>
          <a:xfrm>
            <a:off x="3448432" y="3508319"/>
            <a:ext cx="1634700" cy="32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300">
                <a:solidFill>
                  <a:srgbClr val="FFFFFF"/>
                </a:solidFill>
                <a:latin typeface="Raleway"/>
                <a:ea typeface="Raleway"/>
                <a:cs typeface="Raleway"/>
                <a:sym typeface="Raleway"/>
              </a:rPr>
              <a:t>Conclusion</a:t>
            </a:r>
            <a:endParaRPr sz="1300">
              <a:solidFill>
                <a:srgbClr val="FFFFFF"/>
              </a:solidFill>
              <a:latin typeface="Raleway"/>
              <a:ea typeface="Raleway"/>
              <a:cs typeface="Raleway"/>
              <a:sym typeface="Raleway"/>
            </a:endParaRPr>
          </a:p>
        </p:txBody>
      </p:sp>
      <p:sp>
        <p:nvSpPr>
          <p:cNvPr id="132" name="Google Shape;132;p1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Introduction</a:t>
            </a:r>
            <a:endParaRPr/>
          </a:p>
        </p:txBody>
      </p:sp>
      <p:sp>
        <p:nvSpPr>
          <p:cNvPr id="138" name="Google Shape;138;p18"/>
          <p:cNvSpPr txBox="1"/>
          <p:nvPr>
            <p:ph idx="1" type="body"/>
          </p:nvPr>
        </p:nvSpPr>
        <p:spPr>
          <a:xfrm>
            <a:off x="3525225" y="1318650"/>
            <a:ext cx="4641000" cy="2202000"/>
          </a:xfrm>
          <a:prstGeom prst="rect">
            <a:avLst/>
          </a:prstGeom>
        </p:spPr>
        <p:txBody>
          <a:bodyPr anchorCtr="0" anchor="t" bIns="91425" lIns="91425" spcFirstLastPara="1" rIns="91425" wrap="square" tIns="91425">
            <a:noAutofit/>
          </a:bodyPr>
          <a:lstStyle/>
          <a:p>
            <a:pPr indent="0" lvl="0" marL="0" rtl="0" algn="l">
              <a:lnSpc>
                <a:spcPct val="105000"/>
              </a:lnSpc>
              <a:spcBef>
                <a:spcPts val="900"/>
              </a:spcBef>
              <a:spcAft>
                <a:spcPts val="0"/>
              </a:spcAft>
              <a:buSzPts val="770"/>
              <a:buNone/>
            </a:pPr>
            <a:r>
              <a:rPr lang="en-GB" sz="1100">
                <a:solidFill>
                  <a:srgbClr val="2D3B45"/>
                </a:solidFill>
                <a:highlight>
                  <a:srgbClr val="FFFFFF"/>
                </a:highlight>
              </a:rPr>
              <a:t>Our project involves housing analytics related to the OneApp Guarantee program.</a:t>
            </a:r>
            <a:br>
              <a:rPr lang="en-GB" sz="1100">
                <a:solidFill>
                  <a:srgbClr val="2D3B45"/>
                </a:solidFill>
                <a:highlight>
                  <a:srgbClr val="FFFFFF"/>
                </a:highlight>
              </a:rPr>
            </a:br>
            <a:endParaRPr sz="1100">
              <a:solidFill>
                <a:srgbClr val="2D3B45"/>
              </a:solidFill>
              <a:highlight>
                <a:srgbClr val="FFFFFF"/>
              </a:highlight>
            </a:endParaRPr>
          </a:p>
          <a:p>
            <a:pPr indent="0" lvl="0" marL="0" rtl="0" algn="l">
              <a:lnSpc>
                <a:spcPct val="105000"/>
              </a:lnSpc>
              <a:spcBef>
                <a:spcPts val="900"/>
              </a:spcBef>
              <a:spcAft>
                <a:spcPts val="0"/>
              </a:spcAft>
              <a:buSzPts val="770"/>
              <a:buNone/>
            </a:pPr>
            <a:r>
              <a:rPr lang="en-GB" sz="1100">
                <a:solidFill>
                  <a:srgbClr val="2D3B45"/>
                </a:solidFill>
                <a:highlight>
                  <a:srgbClr val="FFFFFF"/>
                </a:highlight>
              </a:rPr>
              <a:t>Aiming to provide actionable insights to help improve housing accessibility and program effectiveness.</a:t>
            </a:r>
            <a:br>
              <a:rPr lang="en-GB" sz="1100">
                <a:solidFill>
                  <a:srgbClr val="2D3B45"/>
                </a:solidFill>
                <a:highlight>
                  <a:srgbClr val="FFFFFF"/>
                </a:highlight>
              </a:rPr>
            </a:br>
            <a:endParaRPr sz="1100">
              <a:solidFill>
                <a:srgbClr val="2D3B45"/>
              </a:solidFill>
              <a:highlight>
                <a:srgbClr val="FFFFFF"/>
              </a:highlight>
            </a:endParaRPr>
          </a:p>
          <a:p>
            <a:pPr indent="0" lvl="0" marL="0" rtl="0" algn="l">
              <a:lnSpc>
                <a:spcPct val="105000"/>
              </a:lnSpc>
              <a:spcBef>
                <a:spcPts val="900"/>
              </a:spcBef>
              <a:spcAft>
                <a:spcPts val="0"/>
              </a:spcAft>
              <a:buSzPts val="770"/>
              <a:buNone/>
            </a:pPr>
            <a:r>
              <a:rPr lang="en-GB" sz="1100">
                <a:solidFill>
                  <a:srgbClr val="2D3B45"/>
                </a:solidFill>
                <a:highlight>
                  <a:srgbClr val="FFFFFF"/>
                </a:highlight>
              </a:rPr>
              <a:t>Leveraging data analytics to explore risk, economic factors, and success measurement frameworks.</a:t>
            </a:r>
            <a:endParaRPr sz="1100">
              <a:solidFill>
                <a:srgbClr val="2D3B45"/>
              </a:solidFill>
              <a:highlight>
                <a:srgbClr val="FFFFFF"/>
              </a:highlight>
            </a:endParaRPr>
          </a:p>
          <a:p>
            <a:pPr indent="0" lvl="0" marL="0" rtl="0" algn="l">
              <a:lnSpc>
                <a:spcPct val="105000"/>
              </a:lnSpc>
              <a:spcBef>
                <a:spcPts val="900"/>
              </a:spcBef>
              <a:spcAft>
                <a:spcPts val="0"/>
              </a:spcAft>
              <a:buSzPts val="770"/>
              <a:buNone/>
            </a:pPr>
            <a:r>
              <a:t/>
            </a:r>
            <a:endParaRPr sz="1100">
              <a:solidFill>
                <a:srgbClr val="2D3B45"/>
              </a:solidFill>
              <a:highlight>
                <a:srgbClr val="FFFFFF"/>
              </a:highlight>
            </a:endParaRPr>
          </a:p>
          <a:p>
            <a:pPr indent="0" lvl="0" marL="0" rtl="0" algn="l">
              <a:lnSpc>
                <a:spcPct val="105000"/>
              </a:lnSpc>
              <a:spcBef>
                <a:spcPts val="900"/>
              </a:spcBef>
              <a:spcAft>
                <a:spcPts val="1200"/>
              </a:spcAft>
              <a:buSzPts val="770"/>
              <a:buNone/>
            </a:pPr>
            <a:r>
              <a:t/>
            </a:r>
            <a:endParaRPr sz="1100">
              <a:solidFill>
                <a:srgbClr val="2D3B45"/>
              </a:solidFill>
              <a:highlight>
                <a:srgbClr val="FFFFFF"/>
              </a:highlight>
            </a:endParaRPr>
          </a:p>
        </p:txBody>
      </p:sp>
      <p:pic>
        <p:nvPicPr>
          <p:cNvPr id="139" name="Google Shape;139;p18" title="oneappguarantee_cover.jpeg"/>
          <p:cNvPicPr preferRelativeResize="0"/>
          <p:nvPr/>
        </p:nvPicPr>
        <p:blipFill rotWithShape="1">
          <a:blip r:embed="rId3">
            <a:alphaModFix/>
          </a:blip>
          <a:srcRect b="7155" l="0" r="0" t="7147"/>
          <a:stretch/>
        </p:blipFill>
        <p:spPr>
          <a:xfrm>
            <a:off x="0" y="3835670"/>
            <a:ext cx="9143999" cy="1326897"/>
          </a:xfrm>
          <a:prstGeom prst="rect">
            <a:avLst/>
          </a:prstGeom>
          <a:noFill/>
          <a:ln>
            <a:noFill/>
          </a:ln>
        </p:spPr>
      </p:pic>
      <p:sp>
        <p:nvSpPr>
          <p:cNvPr id="140" name="Google Shape;140;p1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9"/>
          <p:cNvSpPr txBox="1"/>
          <p:nvPr>
            <p:ph type="title"/>
          </p:nvPr>
        </p:nvSpPr>
        <p:spPr>
          <a:xfrm>
            <a:off x="727650" y="14479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is OneApp?</a:t>
            </a:r>
            <a:endParaRPr/>
          </a:p>
        </p:txBody>
      </p:sp>
      <p:sp>
        <p:nvSpPr>
          <p:cNvPr id="146" name="Google Shape;146;p19"/>
          <p:cNvSpPr/>
          <p:nvPr/>
        </p:nvSpPr>
        <p:spPr>
          <a:xfrm>
            <a:off x="5088990" y="1208150"/>
            <a:ext cx="328800" cy="328800"/>
          </a:xfrm>
          <a:prstGeom prst="ellipse">
            <a:avLst/>
          </a:prstGeom>
          <a:solidFill>
            <a:srgbClr val="00BF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800">
                <a:solidFill>
                  <a:srgbClr val="FFFFFF"/>
                </a:solidFill>
              </a:rPr>
              <a:t>1</a:t>
            </a:r>
            <a:endParaRPr b="1" sz="800">
              <a:solidFill>
                <a:srgbClr val="FFFFFF"/>
              </a:solidFill>
            </a:endParaRPr>
          </a:p>
        </p:txBody>
      </p:sp>
      <p:sp>
        <p:nvSpPr>
          <p:cNvPr id="147" name="Google Shape;147;p19"/>
          <p:cNvSpPr txBox="1"/>
          <p:nvPr>
            <p:ph idx="1" type="body"/>
          </p:nvPr>
        </p:nvSpPr>
        <p:spPr>
          <a:xfrm>
            <a:off x="5534291" y="1127425"/>
            <a:ext cx="2832900" cy="1051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100"/>
              <a:t>OneApp Guarantee helps renters secure housing by providing lease guarantees.</a:t>
            </a:r>
            <a:endParaRPr sz="1100"/>
          </a:p>
        </p:txBody>
      </p:sp>
      <p:sp>
        <p:nvSpPr>
          <p:cNvPr id="148" name="Google Shape;148;p19"/>
          <p:cNvSpPr/>
          <p:nvPr/>
        </p:nvSpPr>
        <p:spPr>
          <a:xfrm>
            <a:off x="5088990" y="2110275"/>
            <a:ext cx="328800" cy="328800"/>
          </a:xfrm>
          <a:prstGeom prst="ellipse">
            <a:avLst/>
          </a:prstGeom>
          <a:solidFill>
            <a:srgbClr val="00BF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800">
                <a:solidFill>
                  <a:srgbClr val="FFFFFF"/>
                </a:solidFill>
              </a:rPr>
              <a:t>2</a:t>
            </a:r>
            <a:endParaRPr b="1" sz="800">
              <a:solidFill>
                <a:srgbClr val="FFFFFF"/>
              </a:solidFill>
            </a:endParaRPr>
          </a:p>
        </p:txBody>
      </p:sp>
      <p:sp>
        <p:nvSpPr>
          <p:cNvPr id="149" name="Google Shape;149;p19"/>
          <p:cNvSpPr txBox="1"/>
          <p:nvPr>
            <p:ph idx="1" type="body"/>
          </p:nvPr>
        </p:nvSpPr>
        <p:spPr>
          <a:xfrm>
            <a:off x="5583441" y="1935875"/>
            <a:ext cx="2832900" cy="1051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100"/>
              <a:t>Enables renters who face barriers, such as credit challenges or financial limitations, to gain access to rental properties.</a:t>
            </a:r>
            <a:endParaRPr sz="1100"/>
          </a:p>
        </p:txBody>
      </p:sp>
      <p:sp>
        <p:nvSpPr>
          <p:cNvPr id="150" name="Google Shape;150;p19"/>
          <p:cNvSpPr/>
          <p:nvPr/>
        </p:nvSpPr>
        <p:spPr>
          <a:xfrm>
            <a:off x="5089009" y="3038950"/>
            <a:ext cx="328800" cy="328800"/>
          </a:xfrm>
          <a:prstGeom prst="ellipse">
            <a:avLst/>
          </a:prstGeom>
          <a:solidFill>
            <a:srgbClr val="00BF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800">
                <a:solidFill>
                  <a:srgbClr val="FFFFFF"/>
                </a:solidFill>
              </a:rPr>
              <a:t>3</a:t>
            </a:r>
            <a:endParaRPr b="1" sz="800">
              <a:solidFill>
                <a:srgbClr val="FFFFFF"/>
              </a:solidFill>
            </a:endParaRPr>
          </a:p>
        </p:txBody>
      </p:sp>
      <p:sp>
        <p:nvSpPr>
          <p:cNvPr id="151" name="Google Shape;151;p19"/>
          <p:cNvSpPr txBox="1"/>
          <p:nvPr>
            <p:ph idx="1" type="body"/>
          </p:nvPr>
        </p:nvSpPr>
        <p:spPr>
          <a:xfrm>
            <a:off x="5534312" y="2931050"/>
            <a:ext cx="2832900" cy="1051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100"/>
              <a:t>Seeks to improve housing accessibility and reduce homelessness by bridging gaps between renters and landlords.</a:t>
            </a:r>
            <a:endParaRPr sz="1100"/>
          </a:p>
        </p:txBody>
      </p:sp>
      <p:sp>
        <p:nvSpPr>
          <p:cNvPr id="152" name="Google Shape;152;p19"/>
          <p:cNvSpPr/>
          <p:nvPr/>
        </p:nvSpPr>
        <p:spPr>
          <a:xfrm>
            <a:off x="5089009" y="3982850"/>
            <a:ext cx="328800" cy="328800"/>
          </a:xfrm>
          <a:prstGeom prst="ellipse">
            <a:avLst/>
          </a:prstGeom>
          <a:solidFill>
            <a:srgbClr val="00BF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800">
                <a:solidFill>
                  <a:srgbClr val="FFFFFF"/>
                </a:solidFill>
              </a:rPr>
              <a:t>4</a:t>
            </a:r>
            <a:endParaRPr b="1" sz="800">
              <a:solidFill>
                <a:srgbClr val="FFFFFF"/>
              </a:solidFill>
            </a:endParaRPr>
          </a:p>
        </p:txBody>
      </p:sp>
      <p:sp>
        <p:nvSpPr>
          <p:cNvPr id="153" name="Google Shape;153;p19"/>
          <p:cNvSpPr txBox="1"/>
          <p:nvPr>
            <p:ph idx="1" type="body"/>
          </p:nvPr>
        </p:nvSpPr>
        <p:spPr>
          <a:xfrm>
            <a:off x="5534312" y="3886675"/>
            <a:ext cx="2832900" cy="1051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100"/>
              <a:t>Uses data-driven risk assessments to balance landlord confidence with increased housing opportunities for renters.</a:t>
            </a:r>
            <a:endParaRPr sz="1100"/>
          </a:p>
        </p:txBody>
      </p:sp>
      <p:pic>
        <p:nvPicPr>
          <p:cNvPr id="154" name="Google Shape;154;p19"/>
          <p:cNvPicPr preferRelativeResize="0"/>
          <p:nvPr/>
        </p:nvPicPr>
        <p:blipFill>
          <a:blip r:embed="rId3">
            <a:alphaModFix/>
          </a:blip>
          <a:stretch>
            <a:fillRect/>
          </a:stretch>
        </p:blipFill>
        <p:spPr>
          <a:xfrm>
            <a:off x="186200" y="1447925"/>
            <a:ext cx="4684650" cy="2739850"/>
          </a:xfrm>
          <a:prstGeom prst="rect">
            <a:avLst/>
          </a:prstGeom>
          <a:noFill/>
          <a:ln>
            <a:noFill/>
          </a:ln>
        </p:spPr>
      </p:pic>
      <p:sp>
        <p:nvSpPr>
          <p:cNvPr id="155" name="Google Shape;155;p1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34343"/>
        </a:solidFill>
      </p:bgPr>
    </p:bg>
    <p:spTree>
      <p:nvGrpSpPr>
        <p:cNvPr id="159" name="Shape 159"/>
        <p:cNvGrpSpPr/>
        <p:nvPr/>
      </p:nvGrpSpPr>
      <p:grpSpPr>
        <a:xfrm>
          <a:off x="0" y="0"/>
          <a:ext cx="0" cy="0"/>
          <a:chOff x="0" y="0"/>
          <a:chExt cx="0" cy="0"/>
        </a:xfrm>
      </p:grpSpPr>
      <p:sp>
        <p:nvSpPr>
          <p:cNvPr id="160" name="Google Shape;160;p20"/>
          <p:cNvSpPr txBox="1"/>
          <p:nvPr>
            <p:ph type="title"/>
          </p:nvPr>
        </p:nvSpPr>
        <p:spPr>
          <a:xfrm>
            <a:off x="729450" y="1322450"/>
            <a:ext cx="7010100" cy="350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1200"/>
              <a:t>Meeting Updates:</a:t>
            </a:r>
            <a:endParaRPr sz="1200"/>
          </a:p>
        </p:txBody>
      </p:sp>
      <p:sp>
        <p:nvSpPr>
          <p:cNvPr id="161" name="Google Shape;161;p20"/>
          <p:cNvSpPr txBox="1"/>
          <p:nvPr>
            <p:ph idx="4294967295" type="body"/>
          </p:nvPr>
        </p:nvSpPr>
        <p:spPr>
          <a:xfrm>
            <a:off x="729450" y="1749350"/>
            <a:ext cx="7010100" cy="2628300"/>
          </a:xfrm>
          <a:prstGeom prst="rect">
            <a:avLst/>
          </a:prstGeom>
        </p:spPr>
        <p:txBody>
          <a:bodyPr anchorCtr="0" anchor="t" bIns="91425" lIns="91425" spcFirstLastPara="1" rIns="91425" wrap="square" tIns="91425">
            <a:normAutofit fontScale="32500" lnSpcReduction="10000"/>
          </a:bodyPr>
          <a:lstStyle/>
          <a:p>
            <a:pPr indent="0" lvl="0" marL="0" rtl="0" algn="l">
              <a:spcBef>
                <a:spcPts val="0"/>
              </a:spcBef>
              <a:spcAft>
                <a:spcPts val="0"/>
              </a:spcAft>
              <a:buNone/>
            </a:pPr>
            <a:r>
              <a:rPr b="1" lang="en-GB" sz="4400">
                <a:solidFill>
                  <a:schemeClr val="lt1"/>
                </a:solidFill>
                <a:latin typeface="Arial"/>
                <a:ea typeface="Arial"/>
                <a:cs typeface="Arial"/>
                <a:sym typeface="Arial"/>
              </a:rPr>
              <a:t>Kickoff Meeting - </a:t>
            </a:r>
            <a:r>
              <a:rPr lang="en-GB" sz="3650">
                <a:solidFill>
                  <a:schemeClr val="lt1"/>
                </a:solidFill>
                <a:latin typeface="Arial"/>
                <a:ea typeface="Arial"/>
                <a:cs typeface="Arial"/>
                <a:sym typeface="Arial"/>
              </a:rPr>
              <a:t>Introductions and backgrounds</a:t>
            </a:r>
            <a:endParaRPr sz="3650">
              <a:solidFill>
                <a:schemeClr val="lt1"/>
              </a:solidFill>
              <a:latin typeface="Arial"/>
              <a:ea typeface="Arial"/>
              <a:cs typeface="Arial"/>
              <a:sym typeface="Arial"/>
            </a:endParaRPr>
          </a:p>
          <a:p>
            <a:pPr indent="0" lvl="0" marL="0" rtl="0" algn="l">
              <a:spcBef>
                <a:spcPts val="1200"/>
              </a:spcBef>
              <a:spcAft>
                <a:spcPts val="0"/>
              </a:spcAft>
              <a:buNone/>
            </a:pPr>
            <a:r>
              <a:rPr b="1" lang="en-GB" sz="4400">
                <a:solidFill>
                  <a:schemeClr val="lt1"/>
                </a:solidFill>
                <a:latin typeface="Arial"/>
                <a:ea typeface="Arial"/>
                <a:cs typeface="Arial"/>
                <a:sym typeface="Arial"/>
              </a:rPr>
              <a:t>Applicant Data</a:t>
            </a:r>
            <a:r>
              <a:rPr lang="en-GB" sz="4400">
                <a:solidFill>
                  <a:schemeClr val="lt1"/>
                </a:solidFill>
                <a:latin typeface="Arial"/>
                <a:ea typeface="Arial"/>
                <a:cs typeface="Arial"/>
                <a:sym typeface="Arial"/>
              </a:rPr>
              <a:t> -</a:t>
            </a:r>
            <a:r>
              <a:rPr lang="en-GB" sz="4400">
                <a:solidFill>
                  <a:schemeClr val="lt1"/>
                </a:solidFill>
                <a:latin typeface="Arial"/>
                <a:ea typeface="Arial"/>
                <a:cs typeface="Arial"/>
                <a:sym typeface="Arial"/>
              </a:rPr>
              <a:t> </a:t>
            </a:r>
            <a:r>
              <a:rPr lang="en-GB" sz="3650">
                <a:solidFill>
                  <a:schemeClr val="lt1"/>
                </a:solidFill>
                <a:latin typeface="Arial"/>
                <a:ea typeface="Arial"/>
                <a:cs typeface="Arial"/>
                <a:sym typeface="Arial"/>
              </a:rPr>
              <a:t>Preliminary review of OneApp sales data</a:t>
            </a:r>
            <a:endParaRPr sz="3650">
              <a:solidFill>
                <a:schemeClr val="lt1"/>
              </a:solidFill>
              <a:latin typeface="Arial"/>
              <a:ea typeface="Arial"/>
              <a:cs typeface="Arial"/>
              <a:sym typeface="Arial"/>
            </a:endParaRPr>
          </a:p>
          <a:p>
            <a:pPr indent="0" lvl="0" marL="0" rtl="0" algn="l">
              <a:spcBef>
                <a:spcPts val="1200"/>
              </a:spcBef>
              <a:spcAft>
                <a:spcPts val="0"/>
              </a:spcAft>
              <a:buNone/>
            </a:pPr>
            <a:r>
              <a:rPr b="1" lang="en-GB" sz="4400">
                <a:solidFill>
                  <a:schemeClr val="lt1"/>
                </a:solidFill>
                <a:latin typeface="Arial"/>
                <a:ea typeface="Arial"/>
                <a:cs typeface="Arial"/>
                <a:sym typeface="Arial"/>
              </a:rPr>
              <a:t>Data Cleaning &amp; Data Dictionary</a:t>
            </a:r>
            <a:endParaRPr sz="4400">
              <a:solidFill>
                <a:schemeClr val="lt1"/>
              </a:solidFill>
              <a:latin typeface="Arial"/>
              <a:ea typeface="Arial"/>
              <a:cs typeface="Arial"/>
              <a:sym typeface="Arial"/>
            </a:endParaRPr>
          </a:p>
          <a:p>
            <a:pPr indent="0" lvl="0" marL="0" rtl="0" algn="l">
              <a:spcBef>
                <a:spcPts val="1200"/>
              </a:spcBef>
              <a:spcAft>
                <a:spcPts val="0"/>
              </a:spcAft>
              <a:buNone/>
            </a:pPr>
            <a:r>
              <a:rPr b="1" lang="en-GB" sz="4400">
                <a:solidFill>
                  <a:schemeClr val="lt1"/>
                </a:solidFill>
                <a:latin typeface="Arial"/>
                <a:ea typeface="Arial"/>
                <a:cs typeface="Arial"/>
                <a:sym typeface="Arial"/>
              </a:rPr>
              <a:t>Market Focus - </a:t>
            </a:r>
            <a:r>
              <a:rPr lang="en-GB" sz="3650">
                <a:solidFill>
                  <a:schemeClr val="lt1"/>
                </a:solidFill>
                <a:latin typeface="Arial"/>
                <a:ea typeface="Arial"/>
                <a:cs typeface="Arial"/>
                <a:sym typeface="Arial"/>
              </a:rPr>
              <a:t>Where and what to research</a:t>
            </a:r>
            <a:endParaRPr sz="3650">
              <a:solidFill>
                <a:schemeClr val="lt1"/>
              </a:solidFill>
              <a:latin typeface="Arial"/>
              <a:ea typeface="Arial"/>
              <a:cs typeface="Arial"/>
              <a:sym typeface="Arial"/>
            </a:endParaRPr>
          </a:p>
          <a:p>
            <a:pPr indent="0" lvl="0" marL="0" rtl="0" algn="l">
              <a:spcBef>
                <a:spcPts val="1200"/>
              </a:spcBef>
              <a:spcAft>
                <a:spcPts val="0"/>
              </a:spcAft>
              <a:buNone/>
            </a:pPr>
            <a:r>
              <a:rPr b="1" lang="en-GB" sz="4400">
                <a:solidFill>
                  <a:schemeClr val="lt1"/>
                </a:solidFill>
                <a:latin typeface="Arial"/>
                <a:ea typeface="Arial"/>
                <a:cs typeface="Arial"/>
                <a:sym typeface="Arial"/>
              </a:rPr>
              <a:t>Tenant Success Metrics</a:t>
            </a:r>
            <a:r>
              <a:rPr lang="en-GB" sz="4400">
                <a:solidFill>
                  <a:schemeClr val="lt1"/>
                </a:solidFill>
                <a:latin typeface="Arial"/>
                <a:ea typeface="Arial"/>
                <a:cs typeface="Arial"/>
                <a:sym typeface="Arial"/>
              </a:rPr>
              <a:t> - </a:t>
            </a:r>
            <a:r>
              <a:rPr lang="en-GB" sz="3650">
                <a:solidFill>
                  <a:schemeClr val="lt1"/>
                </a:solidFill>
                <a:latin typeface="Arial"/>
                <a:ea typeface="Arial"/>
                <a:cs typeface="Arial"/>
                <a:sym typeface="Arial"/>
              </a:rPr>
              <a:t>What is a win for OneApp?</a:t>
            </a:r>
            <a:endParaRPr sz="3650">
              <a:solidFill>
                <a:schemeClr val="lt1"/>
              </a:solidFill>
              <a:latin typeface="Arial"/>
              <a:ea typeface="Arial"/>
              <a:cs typeface="Arial"/>
              <a:sym typeface="Arial"/>
            </a:endParaRPr>
          </a:p>
          <a:p>
            <a:pPr indent="0" lvl="0" marL="0" rtl="0" algn="l">
              <a:spcBef>
                <a:spcPts val="1200"/>
              </a:spcBef>
              <a:spcAft>
                <a:spcPts val="0"/>
              </a:spcAft>
              <a:buNone/>
            </a:pPr>
            <a:r>
              <a:rPr b="1" lang="en-GB" sz="4400">
                <a:solidFill>
                  <a:schemeClr val="lt1"/>
                </a:solidFill>
                <a:latin typeface="Arial"/>
                <a:ea typeface="Arial"/>
                <a:cs typeface="Arial"/>
                <a:sym typeface="Arial"/>
              </a:rPr>
              <a:t>Visualization Tools</a:t>
            </a:r>
            <a:r>
              <a:rPr lang="en-GB" sz="4400">
                <a:solidFill>
                  <a:schemeClr val="lt1"/>
                </a:solidFill>
                <a:latin typeface="Arial"/>
                <a:ea typeface="Arial"/>
                <a:cs typeface="Arial"/>
                <a:sym typeface="Arial"/>
              </a:rPr>
              <a:t> -</a:t>
            </a:r>
            <a:r>
              <a:rPr lang="en-GB" sz="4400">
                <a:solidFill>
                  <a:schemeClr val="lt1"/>
                </a:solidFill>
                <a:latin typeface="Arial"/>
                <a:ea typeface="Arial"/>
                <a:cs typeface="Arial"/>
                <a:sym typeface="Arial"/>
              </a:rPr>
              <a:t> </a:t>
            </a:r>
            <a:r>
              <a:rPr lang="en-GB" sz="3650">
                <a:solidFill>
                  <a:schemeClr val="lt1"/>
                </a:solidFill>
                <a:latin typeface="Arial"/>
                <a:ea typeface="Arial"/>
                <a:cs typeface="Arial"/>
                <a:sym typeface="Arial"/>
              </a:rPr>
              <a:t>Preferred platform and desires</a:t>
            </a:r>
            <a:endParaRPr sz="3650">
              <a:solidFill>
                <a:schemeClr val="lt1"/>
              </a:solidFill>
              <a:latin typeface="Arial"/>
              <a:ea typeface="Arial"/>
              <a:cs typeface="Arial"/>
              <a:sym typeface="Arial"/>
            </a:endParaRPr>
          </a:p>
          <a:p>
            <a:pPr indent="0" lvl="0" marL="0" rtl="0" algn="l">
              <a:spcBef>
                <a:spcPts val="1200"/>
              </a:spcBef>
              <a:spcAft>
                <a:spcPts val="1200"/>
              </a:spcAft>
              <a:buNone/>
            </a:pPr>
            <a:r>
              <a:t/>
            </a:r>
            <a:endParaRPr sz="3000">
              <a:solidFill>
                <a:srgbClr val="FFFFFF"/>
              </a:solidFill>
            </a:endParaRPr>
          </a:p>
        </p:txBody>
      </p:sp>
      <p:sp>
        <p:nvSpPr>
          <p:cNvPr id="162" name="Google Shape;162;p2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1"/>
          <p:cNvSpPr txBox="1"/>
          <p:nvPr>
            <p:ph type="title"/>
          </p:nvPr>
        </p:nvSpPr>
        <p:spPr>
          <a:xfrm>
            <a:off x="730725" y="1318650"/>
            <a:ext cx="3893400" cy="1034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Scope of Work</a:t>
            </a:r>
            <a:endParaRPr/>
          </a:p>
          <a:p>
            <a:pPr indent="0" lvl="0" marL="0" rtl="0" algn="l">
              <a:spcBef>
                <a:spcPts val="0"/>
              </a:spcBef>
              <a:spcAft>
                <a:spcPts val="0"/>
              </a:spcAft>
              <a:buNone/>
            </a:pPr>
            <a:r>
              <a:t/>
            </a:r>
            <a:endParaRPr b="0"/>
          </a:p>
        </p:txBody>
      </p:sp>
      <p:sp>
        <p:nvSpPr>
          <p:cNvPr id="168" name="Google Shape;168;p21"/>
          <p:cNvSpPr txBox="1"/>
          <p:nvPr>
            <p:ph idx="1" type="body"/>
          </p:nvPr>
        </p:nvSpPr>
        <p:spPr>
          <a:xfrm>
            <a:off x="434525" y="2096700"/>
            <a:ext cx="3431400" cy="256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52"/>
              <a:buNone/>
            </a:pPr>
            <a:r>
              <a:rPr b="1" lang="en-GB" sz="1100">
                <a:solidFill>
                  <a:srgbClr val="000000"/>
                </a:solidFill>
                <a:latin typeface="Arial"/>
                <a:ea typeface="Arial"/>
                <a:cs typeface="Arial"/>
                <a:sym typeface="Arial"/>
              </a:rPr>
              <a:t>Risk &amp; Default Analysis</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GB" sz="1100">
                <a:solidFill>
                  <a:srgbClr val="000000"/>
                </a:solidFill>
                <a:latin typeface="Arial"/>
                <a:ea typeface="Arial"/>
                <a:cs typeface="Arial"/>
                <a:sym typeface="Arial"/>
              </a:rPr>
              <a:t>Evaluate default risks and their correlations with OneApp’s risk assessment metrics.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Explore factors affecting default rates.</a:t>
            </a:r>
            <a:endParaRPr sz="1100">
              <a:solidFill>
                <a:srgbClr val="000000"/>
              </a:solidFill>
              <a:latin typeface="Arial"/>
              <a:ea typeface="Arial"/>
              <a:cs typeface="Arial"/>
              <a:sym typeface="Arial"/>
            </a:endParaRPr>
          </a:p>
          <a:p>
            <a:pPr indent="0" lvl="0" marL="0" rtl="0" algn="l">
              <a:spcBef>
                <a:spcPts val="1200"/>
              </a:spcBef>
              <a:spcAft>
                <a:spcPts val="0"/>
              </a:spcAft>
              <a:buSzPts val="852"/>
              <a:buNone/>
            </a:pPr>
            <a:r>
              <a:rPr b="1" lang="en-GB" sz="1100">
                <a:solidFill>
                  <a:srgbClr val="000000"/>
                </a:solidFill>
                <a:latin typeface="Arial"/>
                <a:ea typeface="Arial"/>
                <a:cs typeface="Arial"/>
                <a:sym typeface="Arial"/>
              </a:rPr>
              <a:t>Market &amp; Economic Analysis</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GB" sz="1100">
                <a:solidFill>
                  <a:srgbClr val="000000"/>
                </a:solidFill>
                <a:latin typeface="Arial"/>
                <a:ea typeface="Arial"/>
                <a:cs typeface="Arial"/>
                <a:sym typeface="Arial"/>
              </a:rPr>
              <a:t>Analyze external economic indicators impacting defaults.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Identify market conditions that predict successful leasing.</a:t>
            </a:r>
            <a:endParaRPr sz="1100">
              <a:solidFill>
                <a:srgbClr val="000000"/>
              </a:solidFill>
              <a:latin typeface="Arial"/>
              <a:ea typeface="Arial"/>
              <a:cs typeface="Arial"/>
              <a:sym typeface="Arial"/>
            </a:endParaRPr>
          </a:p>
          <a:p>
            <a:pPr indent="0" lvl="0" marL="0" rtl="0" algn="l">
              <a:spcBef>
                <a:spcPts val="1200"/>
              </a:spcBef>
              <a:spcAft>
                <a:spcPts val="1200"/>
              </a:spcAft>
              <a:buSzPts val="852"/>
              <a:buNone/>
            </a:pPr>
            <a:r>
              <a:t/>
            </a:r>
            <a:endParaRPr sz="1100"/>
          </a:p>
        </p:txBody>
      </p:sp>
      <p:sp>
        <p:nvSpPr>
          <p:cNvPr id="169" name="Google Shape;169;p21"/>
          <p:cNvSpPr txBox="1"/>
          <p:nvPr/>
        </p:nvSpPr>
        <p:spPr>
          <a:xfrm>
            <a:off x="3739075" y="2096700"/>
            <a:ext cx="3277500" cy="258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1100"/>
              <a:t>Data Visualization &amp; Dashboards</a:t>
            </a:r>
            <a:endParaRPr b="1" sz="1100"/>
          </a:p>
          <a:p>
            <a:pPr indent="-298450" lvl="0" marL="457200" rtl="0" algn="l">
              <a:lnSpc>
                <a:spcPct val="115000"/>
              </a:lnSpc>
              <a:spcBef>
                <a:spcPts val="1200"/>
              </a:spcBef>
              <a:spcAft>
                <a:spcPts val="0"/>
              </a:spcAft>
              <a:buSzPts val="1100"/>
              <a:buChar char="●"/>
            </a:pPr>
            <a:r>
              <a:rPr lang="en-GB" sz="1100"/>
              <a:t>Develop interactive dashboards displaying insights and default risks.</a:t>
            </a:r>
            <a:endParaRPr sz="1100"/>
          </a:p>
          <a:p>
            <a:pPr indent="-298450" lvl="0" marL="457200" rtl="0" algn="l">
              <a:lnSpc>
                <a:spcPct val="115000"/>
              </a:lnSpc>
              <a:spcBef>
                <a:spcPts val="0"/>
              </a:spcBef>
              <a:spcAft>
                <a:spcPts val="0"/>
              </a:spcAft>
              <a:buSzPts val="1100"/>
              <a:buChar char="●"/>
            </a:pPr>
            <a:r>
              <a:rPr lang="en-GB" sz="1100"/>
              <a:t>Integrate dashboards into existing OneApp tools.</a:t>
            </a:r>
            <a:endParaRPr sz="1100"/>
          </a:p>
          <a:p>
            <a:pPr indent="0" lvl="0" marL="0" rtl="0" algn="l">
              <a:lnSpc>
                <a:spcPct val="115000"/>
              </a:lnSpc>
              <a:spcBef>
                <a:spcPts val="1200"/>
              </a:spcBef>
              <a:spcAft>
                <a:spcPts val="0"/>
              </a:spcAft>
              <a:buNone/>
            </a:pPr>
            <a:r>
              <a:rPr b="1" lang="en-GB" sz="1100"/>
              <a:t>Impact Measurement &amp; Reporting</a:t>
            </a:r>
            <a:endParaRPr b="1" sz="1100"/>
          </a:p>
          <a:p>
            <a:pPr indent="-298450" lvl="0" marL="457200" rtl="0" algn="l">
              <a:lnSpc>
                <a:spcPct val="115000"/>
              </a:lnSpc>
              <a:spcBef>
                <a:spcPts val="1200"/>
              </a:spcBef>
              <a:spcAft>
                <a:spcPts val="0"/>
              </a:spcAft>
              <a:buSzPts val="1100"/>
              <a:buChar char="●"/>
            </a:pPr>
            <a:r>
              <a:rPr lang="en-GB" sz="1100"/>
              <a:t>Create standardized metrics for tracking social impact.</a:t>
            </a:r>
            <a:endParaRPr sz="1100"/>
          </a:p>
          <a:p>
            <a:pPr indent="-298450" lvl="0" marL="457200" rtl="0" algn="l">
              <a:lnSpc>
                <a:spcPct val="115000"/>
              </a:lnSpc>
              <a:spcBef>
                <a:spcPts val="0"/>
              </a:spcBef>
              <a:spcAft>
                <a:spcPts val="0"/>
              </a:spcAft>
              <a:buSzPts val="1100"/>
              <a:buChar char="●"/>
            </a:pPr>
            <a:r>
              <a:rPr lang="en-GB" sz="1100"/>
              <a:t>Provide recommendations to enhance the program based on data-driven insights.</a:t>
            </a:r>
            <a:endParaRPr sz="1500">
              <a:solidFill>
                <a:schemeClr val="accent1"/>
              </a:solidFill>
              <a:latin typeface="Lato"/>
              <a:ea typeface="Lato"/>
              <a:cs typeface="Lato"/>
              <a:sym typeface="Lato"/>
            </a:endParaRPr>
          </a:p>
        </p:txBody>
      </p:sp>
      <p:pic>
        <p:nvPicPr>
          <p:cNvPr id="170" name="Google Shape;170;p21"/>
          <p:cNvPicPr preferRelativeResize="0"/>
          <p:nvPr/>
        </p:nvPicPr>
        <p:blipFill>
          <a:blip r:embed="rId3">
            <a:alphaModFix/>
          </a:blip>
          <a:stretch>
            <a:fillRect/>
          </a:stretch>
        </p:blipFill>
        <p:spPr>
          <a:xfrm>
            <a:off x="6822350" y="897075"/>
            <a:ext cx="2262650" cy="2262650"/>
          </a:xfrm>
          <a:prstGeom prst="rect">
            <a:avLst/>
          </a:prstGeom>
          <a:noFill/>
          <a:ln>
            <a:noFill/>
          </a:ln>
        </p:spPr>
      </p:pic>
      <p:sp>
        <p:nvSpPr>
          <p:cNvPr id="171" name="Google Shape;171;p2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2"/>
          <p:cNvSpPr txBox="1"/>
          <p:nvPr>
            <p:ph type="title"/>
          </p:nvPr>
        </p:nvSpPr>
        <p:spPr>
          <a:xfrm>
            <a:off x="730725" y="1318650"/>
            <a:ext cx="3893400" cy="1034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700"/>
              <a:t>Progress Update</a:t>
            </a:r>
            <a:endParaRPr sz="2700"/>
          </a:p>
          <a:p>
            <a:pPr indent="0" lvl="0" marL="0" rtl="0" algn="l">
              <a:spcBef>
                <a:spcPts val="0"/>
              </a:spcBef>
              <a:spcAft>
                <a:spcPts val="0"/>
              </a:spcAft>
              <a:buNone/>
            </a:pPr>
            <a:r>
              <a:t/>
            </a:r>
            <a:endParaRPr b="0" sz="2700"/>
          </a:p>
        </p:txBody>
      </p:sp>
      <p:sp>
        <p:nvSpPr>
          <p:cNvPr id="177" name="Google Shape;177;p22"/>
          <p:cNvSpPr txBox="1"/>
          <p:nvPr>
            <p:ph idx="1" type="body"/>
          </p:nvPr>
        </p:nvSpPr>
        <p:spPr>
          <a:xfrm>
            <a:off x="571675" y="1951850"/>
            <a:ext cx="4413000" cy="29508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SzPts val="688"/>
              <a:buNone/>
            </a:pPr>
            <a:r>
              <a:rPr lang="en-GB" sz="1187">
                <a:solidFill>
                  <a:srgbClr val="000000"/>
                </a:solidFill>
                <a:latin typeface="Arial"/>
                <a:ea typeface="Arial"/>
                <a:cs typeface="Arial"/>
                <a:sym typeface="Arial"/>
              </a:rPr>
              <a:t>Each team member is actively researching specific cities to assess local laws, economic indicators, and market conditions:</a:t>
            </a:r>
            <a:endParaRPr sz="1187">
              <a:solidFill>
                <a:srgbClr val="000000"/>
              </a:solidFill>
              <a:latin typeface="Arial"/>
              <a:ea typeface="Arial"/>
              <a:cs typeface="Arial"/>
              <a:sym typeface="Arial"/>
            </a:endParaRPr>
          </a:p>
          <a:p>
            <a:pPr indent="-304006" lvl="0" marL="457200" rtl="0" algn="l">
              <a:lnSpc>
                <a:spcPct val="95000"/>
              </a:lnSpc>
              <a:spcBef>
                <a:spcPts val="1200"/>
              </a:spcBef>
              <a:spcAft>
                <a:spcPts val="0"/>
              </a:spcAft>
              <a:buClr>
                <a:srgbClr val="000000"/>
              </a:buClr>
              <a:buSzPts val="1188"/>
              <a:buFont typeface="Arial"/>
              <a:buChar char="●"/>
            </a:pPr>
            <a:r>
              <a:rPr b="1" lang="en-GB" sz="1187">
                <a:solidFill>
                  <a:srgbClr val="000000"/>
                </a:solidFill>
                <a:latin typeface="Arial"/>
                <a:ea typeface="Arial"/>
                <a:cs typeface="Arial"/>
                <a:sym typeface="Arial"/>
              </a:rPr>
              <a:t>Yatnary:</a:t>
            </a:r>
            <a:r>
              <a:rPr lang="en-GB" sz="1187">
                <a:solidFill>
                  <a:srgbClr val="000000"/>
                </a:solidFill>
                <a:latin typeface="Arial"/>
                <a:ea typeface="Arial"/>
                <a:cs typeface="Arial"/>
                <a:sym typeface="Arial"/>
              </a:rPr>
              <a:t> Atlanta, GA</a:t>
            </a:r>
            <a:endParaRPr sz="1187">
              <a:solidFill>
                <a:srgbClr val="000000"/>
              </a:solidFill>
              <a:latin typeface="Arial"/>
              <a:ea typeface="Arial"/>
              <a:cs typeface="Arial"/>
              <a:sym typeface="Arial"/>
            </a:endParaRPr>
          </a:p>
          <a:p>
            <a:pPr indent="-304006" lvl="0" marL="457200" rtl="0" algn="l">
              <a:lnSpc>
                <a:spcPct val="95000"/>
              </a:lnSpc>
              <a:spcBef>
                <a:spcPts val="0"/>
              </a:spcBef>
              <a:spcAft>
                <a:spcPts val="0"/>
              </a:spcAft>
              <a:buClr>
                <a:srgbClr val="000000"/>
              </a:buClr>
              <a:buSzPts val="1188"/>
              <a:buFont typeface="Arial"/>
              <a:buChar char="●"/>
            </a:pPr>
            <a:r>
              <a:rPr b="1" lang="en-GB" sz="1187">
                <a:solidFill>
                  <a:srgbClr val="000000"/>
                </a:solidFill>
                <a:latin typeface="Arial"/>
                <a:ea typeface="Arial"/>
                <a:cs typeface="Arial"/>
                <a:sym typeface="Arial"/>
              </a:rPr>
              <a:t>Jawahir:</a:t>
            </a:r>
            <a:r>
              <a:rPr lang="en-GB" sz="1187">
                <a:solidFill>
                  <a:srgbClr val="000000"/>
                </a:solidFill>
                <a:latin typeface="Arial"/>
                <a:ea typeface="Arial"/>
                <a:cs typeface="Arial"/>
                <a:sym typeface="Arial"/>
              </a:rPr>
              <a:t> Houston, TX</a:t>
            </a:r>
            <a:endParaRPr sz="1187">
              <a:solidFill>
                <a:srgbClr val="000000"/>
              </a:solidFill>
              <a:latin typeface="Arial"/>
              <a:ea typeface="Arial"/>
              <a:cs typeface="Arial"/>
              <a:sym typeface="Arial"/>
            </a:endParaRPr>
          </a:p>
          <a:p>
            <a:pPr indent="-304006" lvl="0" marL="457200" rtl="0" algn="l">
              <a:lnSpc>
                <a:spcPct val="95000"/>
              </a:lnSpc>
              <a:spcBef>
                <a:spcPts val="0"/>
              </a:spcBef>
              <a:spcAft>
                <a:spcPts val="0"/>
              </a:spcAft>
              <a:buClr>
                <a:srgbClr val="000000"/>
              </a:buClr>
              <a:buSzPts val="1188"/>
              <a:buFont typeface="Arial"/>
              <a:buChar char="●"/>
            </a:pPr>
            <a:r>
              <a:rPr b="1" lang="en-GB" sz="1187">
                <a:solidFill>
                  <a:srgbClr val="000000"/>
                </a:solidFill>
                <a:latin typeface="Arial"/>
                <a:ea typeface="Arial"/>
                <a:cs typeface="Arial"/>
                <a:sym typeface="Arial"/>
              </a:rPr>
              <a:t>Kevin:</a:t>
            </a:r>
            <a:r>
              <a:rPr lang="en-GB" sz="1187">
                <a:solidFill>
                  <a:srgbClr val="000000"/>
                </a:solidFill>
                <a:latin typeface="Arial"/>
                <a:ea typeface="Arial"/>
                <a:cs typeface="Arial"/>
                <a:sym typeface="Arial"/>
              </a:rPr>
              <a:t> Colorado Springs, CO</a:t>
            </a:r>
            <a:endParaRPr sz="1187">
              <a:solidFill>
                <a:srgbClr val="000000"/>
              </a:solidFill>
              <a:latin typeface="Arial"/>
              <a:ea typeface="Arial"/>
              <a:cs typeface="Arial"/>
              <a:sym typeface="Arial"/>
            </a:endParaRPr>
          </a:p>
          <a:p>
            <a:pPr indent="-304006" lvl="0" marL="457200" rtl="0" algn="l">
              <a:lnSpc>
                <a:spcPct val="95000"/>
              </a:lnSpc>
              <a:spcBef>
                <a:spcPts val="0"/>
              </a:spcBef>
              <a:spcAft>
                <a:spcPts val="0"/>
              </a:spcAft>
              <a:buClr>
                <a:srgbClr val="000000"/>
              </a:buClr>
              <a:buSzPts val="1188"/>
              <a:buFont typeface="Arial"/>
              <a:buChar char="●"/>
            </a:pPr>
            <a:r>
              <a:rPr b="1" lang="en-GB" sz="1187">
                <a:solidFill>
                  <a:srgbClr val="000000"/>
                </a:solidFill>
                <a:latin typeface="Arial"/>
                <a:ea typeface="Arial"/>
                <a:cs typeface="Arial"/>
                <a:sym typeface="Arial"/>
              </a:rPr>
              <a:t>Emily:</a:t>
            </a:r>
            <a:r>
              <a:rPr lang="en-GB" sz="1187">
                <a:solidFill>
                  <a:srgbClr val="000000"/>
                </a:solidFill>
                <a:latin typeface="Arial"/>
                <a:ea typeface="Arial"/>
                <a:cs typeface="Arial"/>
                <a:sym typeface="Arial"/>
              </a:rPr>
              <a:t> Columbus, OH</a:t>
            </a:r>
            <a:endParaRPr sz="1187">
              <a:solidFill>
                <a:srgbClr val="000000"/>
              </a:solidFill>
              <a:latin typeface="Arial"/>
              <a:ea typeface="Arial"/>
              <a:cs typeface="Arial"/>
              <a:sym typeface="Arial"/>
            </a:endParaRPr>
          </a:p>
          <a:p>
            <a:pPr indent="-304006" lvl="0" marL="457200" rtl="0" algn="l">
              <a:lnSpc>
                <a:spcPct val="95000"/>
              </a:lnSpc>
              <a:spcBef>
                <a:spcPts val="0"/>
              </a:spcBef>
              <a:spcAft>
                <a:spcPts val="0"/>
              </a:spcAft>
              <a:buClr>
                <a:srgbClr val="000000"/>
              </a:buClr>
              <a:buSzPts val="1188"/>
              <a:buFont typeface="Arial"/>
              <a:buChar char="●"/>
            </a:pPr>
            <a:r>
              <a:rPr b="1" lang="en-GB" sz="1187">
                <a:solidFill>
                  <a:srgbClr val="000000"/>
                </a:solidFill>
                <a:latin typeface="Arial"/>
                <a:ea typeface="Arial"/>
                <a:cs typeface="Arial"/>
                <a:sym typeface="Arial"/>
              </a:rPr>
              <a:t>Manas:</a:t>
            </a:r>
            <a:r>
              <a:rPr lang="en-GB" sz="1187">
                <a:solidFill>
                  <a:srgbClr val="000000"/>
                </a:solidFill>
                <a:latin typeface="Arial"/>
                <a:ea typeface="Arial"/>
                <a:cs typeface="Arial"/>
                <a:sym typeface="Arial"/>
              </a:rPr>
              <a:t> Birmingham, AL</a:t>
            </a:r>
            <a:endParaRPr sz="1187">
              <a:solidFill>
                <a:srgbClr val="000000"/>
              </a:solidFill>
              <a:latin typeface="Arial"/>
              <a:ea typeface="Arial"/>
              <a:cs typeface="Arial"/>
              <a:sym typeface="Arial"/>
            </a:endParaRPr>
          </a:p>
          <a:p>
            <a:pPr indent="0" lvl="0" marL="0" rtl="0" algn="l">
              <a:lnSpc>
                <a:spcPct val="95000"/>
              </a:lnSpc>
              <a:spcBef>
                <a:spcPts val="1200"/>
              </a:spcBef>
              <a:spcAft>
                <a:spcPts val="0"/>
              </a:spcAft>
              <a:buSzPts val="688"/>
              <a:buNone/>
            </a:pPr>
            <a:r>
              <a:rPr lang="en-GB" sz="1187">
                <a:solidFill>
                  <a:srgbClr val="000000"/>
                </a:solidFill>
                <a:latin typeface="Arial"/>
                <a:ea typeface="Arial"/>
                <a:cs typeface="Arial"/>
                <a:sym typeface="Arial"/>
              </a:rPr>
              <a:t>Current status:</a:t>
            </a:r>
            <a:endParaRPr sz="1187">
              <a:solidFill>
                <a:srgbClr val="000000"/>
              </a:solidFill>
              <a:latin typeface="Arial"/>
              <a:ea typeface="Arial"/>
              <a:cs typeface="Arial"/>
              <a:sym typeface="Arial"/>
            </a:endParaRPr>
          </a:p>
          <a:p>
            <a:pPr indent="-304006" lvl="0" marL="457200" rtl="0" algn="l">
              <a:lnSpc>
                <a:spcPct val="95000"/>
              </a:lnSpc>
              <a:spcBef>
                <a:spcPts val="1200"/>
              </a:spcBef>
              <a:spcAft>
                <a:spcPts val="0"/>
              </a:spcAft>
              <a:buClr>
                <a:srgbClr val="000000"/>
              </a:buClr>
              <a:buSzPts val="1188"/>
              <a:buFont typeface="Arial"/>
              <a:buChar char="●"/>
            </a:pPr>
            <a:r>
              <a:rPr lang="en-GB" sz="1187">
                <a:solidFill>
                  <a:srgbClr val="000000"/>
                </a:solidFill>
                <a:latin typeface="Arial"/>
                <a:ea typeface="Arial"/>
                <a:cs typeface="Arial"/>
                <a:sym typeface="Arial"/>
              </a:rPr>
              <a:t>Initial data gathering and cleaning nearly complete.</a:t>
            </a:r>
            <a:endParaRPr sz="1187">
              <a:solidFill>
                <a:srgbClr val="000000"/>
              </a:solidFill>
              <a:latin typeface="Arial"/>
              <a:ea typeface="Arial"/>
              <a:cs typeface="Arial"/>
              <a:sym typeface="Arial"/>
            </a:endParaRPr>
          </a:p>
          <a:p>
            <a:pPr indent="-304006" lvl="0" marL="457200" rtl="0" algn="l">
              <a:lnSpc>
                <a:spcPct val="95000"/>
              </a:lnSpc>
              <a:spcBef>
                <a:spcPts val="0"/>
              </a:spcBef>
              <a:spcAft>
                <a:spcPts val="0"/>
              </a:spcAft>
              <a:buClr>
                <a:srgbClr val="000000"/>
              </a:buClr>
              <a:buSzPts val="1188"/>
              <a:buFont typeface="Arial"/>
              <a:buChar char="●"/>
            </a:pPr>
            <a:r>
              <a:rPr lang="en-GB" sz="1187">
                <a:solidFill>
                  <a:srgbClr val="000000"/>
                </a:solidFill>
                <a:latin typeface="Arial"/>
                <a:ea typeface="Arial"/>
                <a:cs typeface="Arial"/>
                <a:sym typeface="Arial"/>
              </a:rPr>
              <a:t>Preliminary assessment of regional housing policies and economic indicators underway.</a:t>
            </a:r>
            <a:endParaRPr sz="1187">
              <a:solidFill>
                <a:srgbClr val="000000"/>
              </a:solidFill>
              <a:latin typeface="Arial"/>
              <a:ea typeface="Arial"/>
              <a:cs typeface="Arial"/>
              <a:sym typeface="Arial"/>
            </a:endParaRPr>
          </a:p>
          <a:p>
            <a:pPr indent="0" lvl="0" marL="0" rtl="0" algn="l">
              <a:lnSpc>
                <a:spcPct val="95000"/>
              </a:lnSpc>
              <a:spcBef>
                <a:spcPts val="1200"/>
              </a:spcBef>
              <a:spcAft>
                <a:spcPts val="1200"/>
              </a:spcAft>
              <a:buSzPts val="688"/>
              <a:buNone/>
            </a:pPr>
            <a:r>
              <a:t/>
            </a:r>
            <a:endParaRPr sz="787"/>
          </a:p>
        </p:txBody>
      </p:sp>
      <p:pic>
        <p:nvPicPr>
          <p:cNvPr id="178" name="Google Shape;178;p22"/>
          <p:cNvPicPr preferRelativeResize="0"/>
          <p:nvPr/>
        </p:nvPicPr>
        <p:blipFill>
          <a:blip r:embed="rId3">
            <a:alphaModFix/>
          </a:blip>
          <a:stretch>
            <a:fillRect/>
          </a:stretch>
        </p:blipFill>
        <p:spPr>
          <a:xfrm>
            <a:off x="4785150" y="902175"/>
            <a:ext cx="4000500" cy="4000500"/>
          </a:xfrm>
          <a:prstGeom prst="rect">
            <a:avLst/>
          </a:prstGeom>
          <a:noFill/>
          <a:ln>
            <a:noFill/>
          </a:ln>
        </p:spPr>
      </p:pic>
      <p:sp>
        <p:nvSpPr>
          <p:cNvPr id="179" name="Google Shape;179;p2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3"/>
          <p:cNvSpPr txBox="1"/>
          <p:nvPr>
            <p:ph type="title"/>
          </p:nvPr>
        </p:nvSpPr>
        <p:spPr>
          <a:xfrm>
            <a:off x="730000" y="1318650"/>
            <a:ext cx="2799900" cy="1034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000000"/>
                </a:solidFill>
              </a:rPr>
              <a:t>Early Insights</a:t>
            </a:r>
            <a:endParaRPr>
              <a:solidFill>
                <a:srgbClr val="000000"/>
              </a:solidFill>
            </a:endParaRPr>
          </a:p>
        </p:txBody>
      </p:sp>
      <p:sp>
        <p:nvSpPr>
          <p:cNvPr id="185" name="Google Shape;185;p23"/>
          <p:cNvSpPr txBox="1"/>
          <p:nvPr>
            <p:ph idx="1" type="body"/>
          </p:nvPr>
        </p:nvSpPr>
        <p:spPr>
          <a:xfrm>
            <a:off x="253625" y="1865425"/>
            <a:ext cx="4420800" cy="3132900"/>
          </a:xfrm>
          <a:prstGeom prst="rect">
            <a:avLst/>
          </a:prstGeom>
        </p:spPr>
        <p:txBody>
          <a:bodyPr anchorCtr="0" anchor="t" bIns="91425" lIns="91425" spcFirstLastPara="1" rIns="91425" wrap="square" tIns="91425">
            <a:normAutofit fontScale="85000" lnSpcReduction="20000"/>
          </a:bodyPr>
          <a:lstStyle/>
          <a:p>
            <a:pPr indent="0" lvl="0" marL="0" rtl="0" algn="l">
              <a:spcBef>
                <a:spcPts val="1200"/>
              </a:spcBef>
              <a:spcAft>
                <a:spcPts val="0"/>
              </a:spcAft>
              <a:buNone/>
            </a:pPr>
            <a:r>
              <a:rPr lang="en-GB" sz="1628">
                <a:solidFill>
                  <a:srgbClr val="2D3B45"/>
                </a:solidFill>
                <a:latin typeface="Arial"/>
                <a:ea typeface="Arial"/>
                <a:cs typeface="Arial"/>
                <a:sym typeface="Arial"/>
              </a:rPr>
              <a:t>Key initial observations:</a:t>
            </a:r>
            <a:endParaRPr sz="1628">
              <a:solidFill>
                <a:srgbClr val="2D3B45"/>
              </a:solidFill>
              <a:latin typeface="Arial"/>
              <a:ea typeface="Arial"/>
              <a:cs typeface="Arial"/>
              <a:sym typeface="Arial"/>
            </a:endParaRPr>
          </a:p>
          <a:p>
            <a:pPr indent="-292695" lvl="0" marL="457200" rtl="0" algn="l">
              <a:lnSpc>
                <a:spcPct val="100000"/>
              </a:lnSpc>
              <a:spcBef>
                <a:spcPts val="1200"/>
              </a:spcBef>
              <a:spcAft>
                <a:spcPts val="0"/>
              </a:spcAft>
              <a:buClr>
                <a:srgbClr val="000000"/>
              </a:buClr>
              <a:buSzPct val="100000"/>
              <a:buFont typeface="Arial"/>
              <a:buChar char="●"/>
            </a:pPr>
            <a:r>
              <a:rPr b="1" lang="en-GB" sz="1187">
                <a:solidFill>
                  <a:srgbClr val="000000"/>
                </a:solidFill>
                <a:latin typeface="Arial"/>
                <a:ea typeface="Arial"/>
                <a:cs typeface="Arial"/>
                <a:sym typeface="Arial"/>
              </a:rPr>
              <a:t>Atlanta, GA</a:t>
            </a:r>
            <a:endParaRPr b="1" sz="1187">
              <a:solidFill>
                <a:srgbClr val="000000"/>
              </a:solidFill>
              <a:latin typeface="Arial"/>
              <a:ea typeface="Arial"/>
              <a:cs typeface="Arial"/>
              <a:sym typeface="Arial"/>
            </a:endParaRPr>
          </a:p>
          <a:p>
            <a:pPr indent="-292695" lvl="1" marL="914400" rtl="0" algn="l">
              <a:lnSpc>
                <a:spcPct val="100000"/>
              </a:lnSpc>
              <a:spcBef>
                <a:spcPts val="1000"/>
              </a:spcBef>
              <a:spcAft>
                <a:spcPts val="0"/>
              </a:spcAft>
              <a:buClr>
                <a:srgbClr val="000000"/>
              </a:buClr>
              <a:buSzPct val="100000"/>
              <a:buFont typeface="Arial"/>
              <a:buAutoNum type="alphaLcPeriod"/>
            </a:pPr>
            <a:r>
              <a:rPr lang="en-GB" sz="1187">
                <a:solidFill>
                  <a:srgbClr val="000000"/>
                </a:solidFill>
                <a:latin typeface="Arial"/>
                <a:ea typeface="Arial"/>
                <a:cs typeface="Arial"/>
                <a:sym typeface="Arial"/>
              </a:rPr>
              <a:t>There are a total of 49 companies and 137 properties working with OneApp.  </a:t>
            </a:r>
            <a:endParaRPr sz="1187">
              <a:solidFill>
                <a:srgbClr val="000000"/>
              </a:solidFill>
              <a:latin typeface="Arial"/>
              <a:ea typeface="Arial"/>
              <a:cs typeface="Arial"/>
              <a:sym typeface="Arial"/>
            </a:endParaRPr>
          </a:p>
          <a:p>
            <a:pPr indent="-292695" lvl="1" marL="914400" rtl="0" algn="l">
              <a:lnSpc>
                <a:spcPct val="100000"/>
              </a:lnSpc>
              <a:spcBef>
                <a:spcPts val="1200"/>
              </a:spcBef>
              <a:spcAft>
                <a:spcPts val="0"/>
              </a:spcAft>
              <a:buClr>
                <a:srgbClr val="000000"/>
              </a:buClr>
              <a:buSzPct val="100000"/>
              <a:buFont typeface="Arial"/>
              <a:buAutoNum type="alphaLcPeriod"/>
            </a:pPr>
            <a:r>
              <a:rPr lang="en-GB" sz="1187">
                <a:solidFill>
                  <a:srgbClr val="000000"/>
                </a:solidFill>
                <a:latin typeface="Arial"/>
                <a:ea typeface="Arial"/>
                <a:cs typeface="Arial"/>
                <a:sym typeface="Arial"/>
              </a:rPr>
              <a:t>Top three companies with highest default rates include: </a:t>
            </a:r>
            <a:r>
              <a:rPr lang="en-GB">
                <a:solidFill>
                  <a:srgbClr val="000000"/>
                </a:solidFill>
                <a:latin typeface="Arial"/>
                <a:ea typeface="Arial"/>
                <a:cs typeface="Arial"/>
                <a:sym typeface="Arial"/>
              </a:rPr>
              <a:t>Range Waterman Real Estate (302), Integral (198), Meridian Management Group (190).</a:t>
            </a:r>
            <a:endParaRPr>
              <a:solidFill>
                <a:srgbClr val="000000"/>
              </a:solidFill>
              <a:latin typeface="Arial"/>
              <a:ea typeface="Arial"/>
              <a:cs typeface="Arial"/>
              <a:sym typeface="Arial"/>
            </a:endParaRPr>
          </a:p>
          <a:p>
            <a:pPr indent="-292695" lvl="0" marL="457200" rtl="0" algn="l">
              <a:lnSpc>
                <a:spcPct val="100000"/>
              </a:lnSpc>
              <a:spcBef>
                <a:spcPts val="1200"/>
              </a:spcBef>
              <a:spcAft>
                <a:spcPts val="0"/>
              </a:spcAft>
              <a:buClr>
                <a:srgbClr val="000000"/>
              </a:buClr>
              <a:buSzPct val="100000"/>
              <a:buFont typeface="Arial"/>
              <a:buChar char="●"/>
            </a:pPr>
            <a:r>
              <a:rPr b="1" lang="en-GB" sz="1187">
                <a:solidFill>
                  <a:srgbClr val="000000"/>
                </a:solidFill>
                <a:latin typeface="Arial"/>
                <a:ea typeface="Arial"/>
                <a:cs typeface="Arial"/>
                <a:sym typeface="Arial"/>
              </a:rPr>
              <a:t>Houston, TX</a:t>
            </a:r>
            <a:endParaRPr b="1" sz="1187">
              <a:solidFill>
                <a:srgbClr val="000000"/>
              </a:solidFill>
              <a:latin typeface="Arial"/>
              <a:ea typeface="Arial"/>
              <a:cs typeface="Arial"/>
              <a:sym typeface="Arial"/>
            </a:endParaRPr>
          </a:p>
          <a:p>
            <a:pPr indent="-292695" lvl="0" marL="914400" rtl="0" algn="l">
              <a:spcBef>
                <a:spcPts val="1000"/>
              </a:spcBef>
              <a:spcAft>
                <a:spcPts val="0"/>
              </a:spcAft>
              <a:buClr>
                <a:srgbClr val="000000"/>
              </a:buClr>
              <a:buSzPct val="100000"/>
              <a:buFont typeface="Arial"/>
              <a:buAutoNum type="alphaLcPeriod"/>
            </a:pPr>
            <a:r>
              <a:rPr lang="en-GB" sz="1187">
                <a:solidFill>
                  <a:srgbClr val="000000"/>
                </a:solidFill>
                <a:latin typeface="Arial"/>
                <a:ea typeface="Arial"/>
                <a:cs typeface="Arial"/>
                <a:sym typeface="Arial"/>
              </a:rPr>
              <a:t>Rental demand remains high, especially in central and southwest submarkets, driven by population growth and job recovery.</a:t>
            </a:r>
            <a:endParaRPr sz="1187">
              <a:solidFill>
                <a:srgbClr val="000000"/>
              </a:solidFill>
              <a:latin typeface="Arial"/>
              <a:ea typeface="Arial"/>
              <a:cs typeface="Arial"/>
              <a:sym typeface="Arial"/>
            </a:endParaRPr>
          </a:p>
          <a:p>
            <a:pPr indent="-292695" lvl="0" marL="914400" rtl="0" algn="l">
              <a:spcBef>
                <a:spcPts val="0"/>
              </a:spcBef>
              <a:spcAft>
                <a:spcPts val="0"/>
              </a:spcAft>
              <a:buClr>
                <a:srgbClr val="000000"/>
              </a:buClr>
              <a:buSzPct val="100000"/>
              <a:buFont typeface="Arial"/>
              <a:buAutoNum type="alphaLcPeriod"/>
            </a:pPr>
            <a:br>
              <a:rPr lang="en-GB" sz="1187">
                <a:solidFill>
                  <a:srgbClr val="000000"/>
                </a:solidFill>
                <a:latin typeface="Arial"/>
                <a:ea typeface="Arial"/>
                <a:cs typeface="Arial"/>
                <a:sym typeface="Arial"/>
              </a:rPr>
            </a:br>
            <a:r>
              <a:rPr lang="en-GB" sz="1187">
                <a:solidFill>
                  <a:srgbClr val="000000"/>
                </a:solidFill>
                <a:latin typeface="Arial"/>
                <a:ea typeface="Arial"/>
                <a:cs typeface="Arial"/>
                <a:sym typeface="Arial"/>
              </a:rPr>
              <a:t>Median rent in Houston rose by 2.1% year-over-year in Q3 2024, slightly above the national average, signaling stable market conditions.</a:t>
            </a:r>
            <a:endParaRPr sz="900"/>
          </a:p>
        </p:txBody>
      </p:sp>
      <p:sp>
        <p:nvSpPr>
          <p:cNvPr id="186" name="Google Shape;186;p2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87" name="Google Shape;187;p23"/>
          <p:cNvSpPr txBox="1"/>
          <p:nvPr/>
        </p:nvSpPr>
        <p:spPr>
          <a:xfrm>
            <a:off x="4547300" y="509575"/>
            <a:ext cx="4309500" cy="4544400"/>
          </a:xfrm>
          <a:prstGeom prst="rect">
            <a:avLst/>
          </a:prstGeom>
          <a:noFill/>
          <a:ln>
            <a:noFill/>
          </a:ln>
        </p:spPr>
        <p:txBody>
          <a:bodyPr anchorCtr="0" anchor="t" bIns="91425" lIns="91425" spcFirstLastPara="1" rIns="91425" wrap="square" tIns="91425">
            <a:noAutofit/>
          </a:bodyPr>
          <a:lstStyle/>
          <a:p>
            <a:pPr indent="-304006" lvl="0" marL="457200" rtl="0" algn="l">
              <a:spcBef>
                <a:spcPts val="0"/>
              </a:spcBef>
              <a:spcAft>
                <a:spcPts val="0"/>
              </a:spcAft>
              <a:buSzPts val="1188"/>
              <a:buChar char="●"/>
            </a:pPr>
            <a:r>
              <a:rPr b="1" lang="en-GB" sz="1187"/>
              <a:t>Colorado Springs, CO</a:t>
            </a:r>
            <a:endParaRPr b="1" sz="1187"/>
          </a:p>
          <a:p>
            <a:pPr indent="-304006" lvl="1" marL="914400" rtl="0" algn="l">
              <a:spcBef>
                <a:spcPts val="1000"/>
              </a:spcBef>
              <a:spcAft>
                <a:spcPts val="0"/>
              </a:spcAft>
              <a:buSzPts val="1188"/>
              <a:buAutoNum type="alphaLcPeriod"/>
            </a:pPr>
            <a:r>
              <a:rPr lang="en-GB" sz="1187"/>
              <a:t>High number of approved pandemic era builds coming online</a:t>
            </a:r>
            <a:endParaRPr sz="1187"/>
          </a:p>
          <a:p>
            <a:pPr indent="-304006" lvl="1" marL="914400" rtl="0" algn="l">
              <a:spcBef>
                <a:spcPts val="1000"/>
              </a:spcBef>
              <a:spcAft>
                <a:spcPts val="0"/>
              </a:spcAft>
              <a:buSzPts val="1188"/>
              <a:buAutoNum type="alphaLcPeriod"/>
            </a:pPr>
            <a:r>
              <a:rPr lang="en-GB" sz="1187"/>
              <a:t>Low income incentives and move-in deals from local government and builders</a:t>
            </a:r>
            <a:endParaRPr sz="1187"/>
          </a:p>
          <a:p>
            <a:pPr indent="-304006" lvl="0" marL="457200" rtl="0" algn="l">
              <a:spcBef>
                <a:spcPts val="1000"/>
              </a:spcBef>
              <a:spcAft>
                <a:spcPts val="0"/>
              </a:spcAft>
              <a:buSzPts val="1188"/>
              <a:buChar char="●"/>
            </a:pPr>
            <a:r>
              <a:rPr b="1" lang="en-GB" sz="1187"/>
              <a:t>Columbus, OH</a:t>
            </a:r>
            <a:endParaRPr b="1" sz="1187"/>
          </a:p>
          <a:p>
            <a:pPr indent="-304006" lvl="1" marL="914400" rtl="0" algn="l">
              <a:spcBef>
                <a:spcPts val="1000"/>
              </a:spcBef>
              <a:spcAft>
                <a:spcPts val="0"/>
              </a:spcAft>
              <a:buSzPts val="1188"/>
              <a:buAutoNum type="alphaLcPeriod"/>
            </a:pPr>
            <a:r>
              <a:rPr lang="en-GB" sz="1187"/>
              <a:t>vacancy rate of 7.3%, marking a 25.9% year-over-year increase</a:t>
            </a:r>
            <a:endParaRPr sz="1187"/>
          </a:p>
          <a:p>
            <a:pPr indent="-304006" lvl="1" marL="914400" rtl="0" algn="l">
              <a:spcBef>
                <a:spcPts val="1000"/>
              </a:spcBef>
              <a:spcAft>
                <a:spcPts val="0"/>
              </a:spcAft>
              <a:buSzPts val="1188"/>
              <a:buAutoNum type="alphaLcPeriod"/>
            </a:pPr>
            <a:r>
              <a:rPr lang="en-GB" sz="1187"/>
              <a:t>Rent growth in Columbus slowed to 1.8% in the third quarter of 2024, down from 2.3% in the previous quarter, yet still above the national average of 0.9%.</a:t>
            </a:r>
            <a:endParaRPr sz="1187"/>
          </a:p>
          <a:p>
            <a:pPr indent="-304006" lvl="0" marL="457200" rtl="0" algn="l">
              <a:spcBef>
                <a:spcPts val="1200"/>
              </a:spcBef>
              <a:spcAft>
                <a:spcPts val="0"/>
              </a:spcAft>
              <a:buSzPts val="1188"/>
              <a:buChar char="●"/>
            </a:pPr>
            <a:r>
              <a:rPr b="1" lang="en-GB" sz="1187"/>
              <a:t>Birmingham, AL</a:t>
            </a:r>
            <a:endParaRPr b="1" sz="1187"/>
          </a:p>
          <a:p>
            <a:pPr indent="-304006" lvl="1" marL="914400" rtl="0" algn="l">
              <a:spcBef>
                <a:spcPts val="1200"/>
              </a:spcBef>
              <a:spcAft>
                <a:spcPts val="0"/>
              </a:spcAft>
              <a:buSzPts val="1188"/>
              <a:buAutoNum type="alphaLcPeriod"/>
            </a:pPr>
            <a:r>
              <a:rPr lang="en-GB" sz="1187"/>
              <a:t>Few consumers choose monthly subscriptions; the majority chose one-time payments (avg. $1,278).</a:t>
            </a:r>
            <a:endParaRPr sz="1187"/>
          </a:p>
          <a:p>
            <a:pPr indent="-304006" lvl="1" marL="914400" rtl="0" algn="l">
              <a:spcBef>
                <a:spcPts val="1200"/>
              </a:spcBef>
              <a:spcAft>
                <a:spcPts val="1000"/>
              </a:spcAft>
              <a:buSzPts val="1188"/>
              <a:buAutoNum type="alphaLcPeriod"/>
            </a:pPr>
            <a:r>
              <a:rPr lang="en-GB" sz="1187"/>
              <a:t>Potential dependability issues among applicants observed by the low average credit score (487) and inconsistent income data.</a:t>
            </a:r>
            <a:endParaRPr sz="1187"/>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4"/>
          <p:cNvSpPr txBox="1"/>
          <p:nvPr>
            <p:ph type="title"/>
          </p:nvPr>
        </p:nvSpPr>
        <p:spPr>
          <a:xfrm>
            <a:off x="730000" y="1318650"/>
            <a:ext cx="3636600" cy="570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Where We’re Headed</a:t>
            </a:r>
            <a:endParaRPr/>
          </a:p>
        </p:txBody>
      </p:sp>
      <p:sp>
        <p:nvSpPr>
          <p:cNvPr id="193" name="Google Shape;193;p24"/>
          <p:cNvSpPr txBox="1"/>
          <p:nvPr/>
        </p:nvSpPr>
        <p:spPr>
          <a:xfrm>
            <a:off x="671155" y="2241185"/>
            <a:ext cx="3636600" cy="26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GB" sz="1000">
                <a:solidFill>
                  <a:schemeClr val="dk1"/>
                </a:solidFill>
                <a:latin typeface="Lato"/>
                <a:ea typeface="Lato"/>
                <a:cs typeface="Lato"/>
                <a:sym typeface="Lato"/>
              </a:rPr>
              <a:t>01    | </a:t>
            </a:r>
            <a:r>
              <a:rPr lang="en-GB" sz="1000">
                <a:solidFill>
                  <a:srgbClr val="000000"/>
                </a:solidFill>
                <a:latin typeface="Lato"/>
                <a:ea typeface="Lato"/>
                <a:cs typeface="Lato"/>
                <a:sym typeface="Lato"/>
              </a:rPr>
              <a:t>   </a:t>
            </a:r>
            <a:r>
              <a:rPr lang="en-GB" sz="1000">
                <a:latin typeface="Lato"/>
                <a:ea typeface="Lato"/>
                <a:cs typeface="Lato"/>
                <a:sym typeface="Lato"/>
              </a:rPr>
              <a:t>Complete comprehensive economic and market analyses by city.</a:t>
            </a:r>
            <a:endParaRPr/>
          </a:p>
        </p:txBody>
      </p:sp>
      <p:sp>
        <p:nvSpPr>
          <p:cNvPr id="194" name="Google Shape;194;p24"/>
          <p:cNvSpPr txBox="1"/>
          <p:nvPr/>
        </p:nvSpPr>
        <p:spPr>
          <a:xfrm>
            <a:off x="671155" y="2823885"/>
            <a:ext cx="3636600" cy="26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GB" sz="1000">
                <a:solidFill>
                  <a:schemeClr val="dk1"/>
                </a:solidFill>
                <a:latin typeface="Lato"/>
                <a:ea typeface="Lato"/>
                <a:cs typeface="Lato"/>
                <a:sym typeface="Lato"/>
              </a:rPr>
              <a:t>02    |</a:t>
            </a:r>
            <a:r>
              <a:rPr b="1" lang="en-GB" sz="1000">
                <a:solidFill>
                  <a:srgbClr val="CCCCCC"/>
                </a:solidFill>
                <a:latin typeface="Lato"/>
                <a:ea typeface="Lato"/>
                <a:cs typeface="Lato"/>
                <a:sym typeface="Lato"/>
              </a:rPr>
              <a:t> </a:t>
            </a:r>
            <a:r>
              <a:rPr lang="en-GB" sz="1000">
                <a:solidFill>
                  <a:srgbClr val="53C6A1"/>
                </a:solidFill>
                <a:latin typeface="Lato"/>
                <a:ea typeface="Lato"/>
                <a:cs typeface="Lato"/>
                <a:sym typeface="Lato"/>
              </a:rPr>
              <a:t> </a:t>
            </a:r>
            <a:r>
              <a:rPr lang="en-GB" sz="1000">
                <a:solidFill>
                  <a:srgbClr val="000000"/>
                </a:solidFill>
                <a:latin typeface="Lato"/>
                <a:ea typeface="Lato"/>
                <a:cs typeface="Lato"/>
                <a:sym typeface="Lato"/>
              </a:rPr>
              <a:t>  </a:t>
            </a:r>
            <a:r>
              <a:rPr lang="en-GB" sz="1000">
                <a:latin typeface="Lato"/>
                <a:ea typeface="Lato"/>
                <a:cs typeface="Lato"/>
                <a:sym typeface="Lato"/>
              </a:rPr>
              <a:t>Build predictive models linking external economic factors to default risks.</a:t>
            </a:r>
            <a:endParaRPr/>
          </a:p>
        </p:txBody>
      </p:sp>
      <p:sp>
        <p:nvSpPr>
          <p:cNvPr id="195" name="Google Shape;195;p24"/>
          <p:cNvSpPr txBox="1"/>
          <p:nvPr/>
        </p:nvSpPr>
        <p:spPr>
          <a:xfrm>
            <a:off x="671155" y="3406585"/>
            <a:ext cx="3636600" cy="26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GB" sz="1000">
                <a:solidFill>
                  <a:schemeClr val="dk1"/>
                </a:solidFill>
                <a:latin typeface="Lato"/>
                <a:ea typeface="Lato"/>
                <a:cs typeface="Lato"/>
                <a:sym typeface="Lato"/>
              </a:rPr>
              <a:t>03    |</a:t>
            </a:r>
            <a:r>
              <a:rPr b="1" lang="en-GB" sz="1000">
                <a:solidFill>
                  <a:srgbClr val="CCCCCC"/>
                </a:solidFill>
                <a:latin typeface="Lato"/>
                <a:ea typeface="Lato"/>
                <a:cs typeface="Lato"/>
                <a:sym typeface="Lato"/>
              </a:rPr>
              <a:t> </a:t>
            </a:r>
            <a:r>
              <a:rPr lang="en-GB" sz="1000">
                <a:solidFill>
                  <a:srgbClr val="000000"/>
                </a:solidFill>
                <a:latin typeface="Lato"/>
                <a:ea typeface="Lato"/>
                <a:cs typeface="Lato"/>
                <a:sym typeface="Lato"/>
              </a:rPr>
              <a:t>   </a:t>
            </a:r>
            <a:r>
              <a:rPr lang="en-GB" sz="1000">
                <a:latin typeface="Lato"/>
                <a:ea typeface="Lato"/>
                <a:cs typeface="Lato"/>
                <a:sym typeface="Lato"/>
              </a:rPr>
              <a:t>Begin development of interactive dashboard prototypes.</a:t>
            </a:r>
            <a:endParaRPr/>
          </a:p>
        </p:txBody>
      </p:sp>
      <p:sp>
        <p:nvSpPr>
          <p:cNvPr id="196" name="Google Shape;196;p24"/>
          <p:cNvSpPr txBox="1"/>
          <p:nvPr/>
        </p:nvSpPr>
        <p:spPr>
          <a:xfrm>
            <a:off x="671155" y="3958460"/>
            <a:ext cx="3636600" cy="26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GB" sz="1000">
                <a:solidFill>
                  <a:schemeClr val="dk1"/>
                </a:solidFill>
                <a:latin typeface="Lato"/>
                <a:ea typeface="Lato"/>
                <a:cs typeface="Lato"/>
                <a:sym typeface="Lato"/>
              </a:rPr>
              <a:t>04    |</a:t>
            </a:r>
            <a:r>
              <a:rPr b="1" lang="en-GB" sz="1000">
                <a:solidFill>
                  <a:srgbClr val="000000"/>
                </a:solidFill>
                <a:latin typeface="Lato"/>
                <a:ea typeface="Lato"/>
                <a:cs typeface="Lato"/>
                <a:sym typeface="Lato"/>
              </a:rPr>
              <a:t> </a:t>
            </a:r>
            <a:r>
              <a:rPr lang="en-GB" sz="1000">
                <a:solidFill>
                  <a:srgbClr val="000000"/>
                </a:solidFill>
                <a:latin typeface="Lato"/>
                <a:ea typeface="Lato"/>
                <a:cs typeface="Lato"/>
                <a:sym typeface="Lato"/>
              </a:rPr>
              <a:t>  </a:t>
            </a:r>
            <a:r>
              <a:rPr lang="en-GB" sz="1000">
                <a:latin typeface="Lato"/>
                <a:ea typeface="Lato"/>
                <a:cs typeface="Lato"/>
                <a:sym typeface="Lato"/>
              </a:rPr>
              <a:t>Finalize standardized impact measurement frameworks for ongoing evaluations.</a:t>
            </a:r>
            <a:endParaRPr sz="1000">
              <a:solidFill>
                <a:srgbClr val="000000"/>
              </a:solidFill>
              <a:latin typeface="Lato"/>
              <a:ea typeface="Lato"/>
              <a:cs typeface="Lato"/>
              <a:sym typeface="Lato"/>
            </a:endParaRPr>
          </a:p>
        </p:txBody>
      </p:sp>
      <p:pic>
        <p:nvPicPr>
          <p:cNvPr id="197" name="Google Shape;197;p24"/>
          <p:cNvPicPr preferRelativeResize="0"/>
          <p:nvPr/>
        </p:nvPicPr>
        <p:blipFill>
          <a:blip r:embed="rId3">
            <a:alphaModFix/>
          </a:blip>
          <a:stretch>
            <a:fillRect/>
          </a:stretch>
        </p:blipFill>
        <p:spPr>
          <a:xfrm>
            <a:off x="5108925" y="1087375"/>
            <a:ext cx="3448050" cy="3448050"/>
          </a:xfrm>
          <a:prstGeom prst="rect">
            <a:avLst/>
          </a:prstGeom>
          <a:noFill/>
          <a:ln>
            <a:noFill/>
          </a:ln>
        </p:spPr>
      </p:pic>
      <p:sp>
        <p:nvSpPr>
          <p:cNvPr id="198" name="Google Shape;198;p2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000000"/>
                </a:solidFill>
              </a:rPr>
              <a:t>Vision</a:t>
            </a:r>
            <a:endParaRPr sz="800"/>
          </a:p>
        </p:txBody>
      </p:sp>
      <p:sp>
        <p:nvSpPr>
          <p:cNvPr id="204" name="Google Shape;204;p25"/>
          <p:cNvSpPr txBox="1"/>
          <p:nvPr/>
        </p:nvSpPr>
        <p:spPr>
          <a:xfrm>
            <a:off x="460551" y="3462425"/>
            <a:ext cx="9609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Clr>
                <a:srgbClr val="000000"/>
              </a:buClr>
              <a:buSzPts val="1100"/>
              <a:buFont typeface="Arial"/>
              <a:buNone/>
            </a:pPr>
            <a:r>
              <a:rPr b="1" lang="en-GB">
                <a:latin typeface="Lato"/>
                <a:ea typeface="Lato"/>
                <a:cs typeface="Lato"/>
                <a:sym typeface="Lato"/>
              </a:rPr>
              <a:t>February</a:t>
            </a:r>
            <a:endParaRPr b="1">
              <a:latin typeface="Lato"/>
              <a:ea typeface="Lato"/>
              <a:cs typeface="Lato"/>
              <a:sym typeface="Lato"/>
            </a:endParaRPr>
          </a:p>
        </p:txBody>
      </p:sp>
      <p:sp>
        <p:nvSpPr>
          <p:cNvPr id="205" name="Google Shape;205;p25"/>
          <p:cNvSpPr txBox="1"/>
          <p:nvPr>
            <p:ph idx="4294967295" type="body"/>
          </p:nvPr>
        </p:nvSpPr>
        <p:spPr>
          <a:xfrm>
            <a:off x="-100100" y="2441425"/>
            <a:ext cx="2471400" cy="962400"/>
          </a:xfrm>
          <a:prstGeom prst="rect">
            <a:avLst/>
          </a:prstGeom>
        </p:spPr>
        <p:txBody>
          <a:bodyPr anchorCtr="0" anchor="t" bIns="91425" lIns="91425" spcFirstLastPara="1" rIns="91425" wrap="square" tIns="91425">
            <a:noAutofit/>
          </a:bodyPr>
          <a:lstStyle/>
          <a:p>
            <a:pPr indent="-288448" lvl="0" marL="457200" rtl="0" algn="l">
              <a:lnSpc>
                <a:spcPct val="80000"/>
              </a:lnSpc>
              <a:spcBef>
                <a:spcPts val="0"/>
              </a:spcBef>
              <a:spcAft>
                <a:spcPts val="1000"/>
              </a:spcAft>
              <a:buSzPts val="943"/>
              <a:buChar char="●"/>
            </a:pPr>
            <a:r>
              <a:rPr lang="en-GB" sz="942"/>
              <a:t>Kickoff meetings with OneApp. Scope finalized.</a:t>
            </a:r>
            <a:endParaRPr sz="387"/>
          </a:p>
        </p:txBody>
      </p:sp>
      <p:sp>
        <p:nvSpPr>
          <p:cNvPr id="206" name="Google Shape;206;p25"/>
          <p:cNvSpPr txBox="1"/>
          <p:nvPr/>
        </p:nvSpPr>
        <p:spPr>
          <a:xfrm>
            <a:off x="2044499" y="2957350"/>
            <a:ext cx="7458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Clr>
                <a:srgbClr val="000000"/>
              </a:buClr>
              <a:buSzPts val="1100"/>
              <a:buFont typeface="Arial"/>
              <a:buNone/>
            </a:pPr>
            <a:r>
              <a:rPr b="1" lang="en-GB">
                <a:latin typeface="Lato"/>
                <a:ea typeface="Lato"/>
                <a:cs typeface="Lato"/>
                <a:sym typeface="Lato"/>
              </a:rPr>
              <a:t>March</a:t>
            </a:r>
            <a:endParaRPr b="1">
              <a:latin typeface="Lato"/>
              <a:ea typeface="Lato"/>
              <a:cs typeface="Lato"/>
              <a:sym typeface="Lato"/>
            </a:endParaRPr>
          </a:p>
        </p:txBody>
      </p:sp>
      <p:sp>
        <p:nvSpPr>
          <p:cNvPr id="207" name="Google Shape;207;p25"/>
          <p:cNvSpPr txBox="1"/>
          <p:nvPr>
            <p:ph idx="4294967295" type="body"/>
          </p:nvPr>
        </p:nvSpPr>
        <p:spPr>
          <a:xfrm>
            <a:off x="845575" y="3585250"/>
            <a:ext cx="2951400" cy="9975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t/>
            </a:r>
            <a:endParaRPr sz="931"/>
          </a:p>
          <a:p>
            <a:pPr indent="-287733" lvl="0" marL="457200" rtl="0" algn="l">
              <a:lnSpc>
                <a:spcPct val="80000"/>
              </a:lnSpc>
              <a:spcBef>
                <a:spcPts val="1000"/>
              </a:spcBef>
              <a:spcAft>
                <a:spcPts val="1000"/>
              </a:spcAft>
              <a:buSzPts val="931"/>
              <a:buChar char="●"/>
            </a:pPr>
            <a:r>
              <a:rPr lang="en-GB" sz="931"/>
              <a:t>Data cleaned. Initial risk trends identified.</a:t>
            </a:r>
            <a:endParaRPr sz="532"/>
          </a:p>
        </p:txBody>
      </p:sp>
      <p:sp>
        <p:nvSpPr>
          <p:cNvPr id="208" name="Google Shape;208;p25"/>
          <p:cNvSpPr txBox="1"/>
          <p:nvPr/>
        </p:nvSpPr>
        <p:spPr>
          <a:xfrm>
            <a:off x="3596650" y="3455416"/>
            <a:ext cx="6927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Clr>
                <a:srgbClr val="000000"/>
              </a:buClr>
              <a:buSzPts val="1100"/>
              <a:buFont typeface="Arial"/>
              <a:buNone/>
            </a:pPr>
            <a:r>
              <a:rPr b="1" lang="en-GB">
                <a:latin typeface="Lato"/>
                <a:ea typeface="Lato"/>
                <a:cs typeface="Lato"/>
                <a:sym typeface="Lato"/>
              </a:rPr>
              <a:t>April</a:t>
            </a:r>
            <a:endParaRPr b="1">
              <a:latin typeface="Lato"/>
              <a:ea typeface="Lato"/>
              <a:cs typeface="Lato"/>
              <a:sym typeface="Lato"/>
            </a:endParaRPr>
          </a:p>
        </p:txBody>
      </p:sp>
      <p:sp>
        <p:nvSpPr>
          <p:cNvPr id="209" name="Google Shape;209;p25"/>
          <p:cNvSpPr txBox="1"/>
          <p:nvPr>
            <p:ph idx="4294967295" type="body"/>
          </p:nvPr>
        </p:nvSpPr>
        <p:spPr>
          <a:xfrm>
            <a:off x="2547100" y="2507875"/>
            <a:ext cx="2791800" cy="829500"/>
          </a:xfrm>
          <a:prstGeom prst="rect">
            <a:avLst/>
          </a:prstGeom>
        </p:spPr>
        <p:txBody>
          <a:bodyPr anchorCtr="0" anchor="t" bIns="91425" lIns="91425" spcFirstLastPara="1" rIns="91425" wrap="square" tIns="91425">
            <a:noAutofit/>
          </a:bodyPr>
          <a:lstStyle/>
          <a:p>
            <a:pPr indent="-289877" lvl="0" marL="457200" rtl="0" algn="l">
              <a:lnSpc>
                <a:spcPct val="80000"/>
              </a:lnSpc>
              <a:spcBef>
                <a:spcPts val="0"/>
              </a:spcBef>
              <a:spcAft>
                <a:spcPts val="1000"/>
              </a:spcAft>
              <a:buSzPts val="965"/>
              <a:buChar char="●"/>
            </a:pPr>
            <a:r>
              <a:rPr lang="en-GB" sz="964"/>
              <a:t>City-level economic analysis completed.</a:t>
            </a:r>
            <a:endParaRPr sz="964"/>
          </a:p>
        </p:txBody>
      </p:sp>
      <p:sp>
        <p:nvSpPr>
          <p:cNvPr id="210" name="Google Shape;210;p25"/>
          <p:cNvSpPr txBox="1"/>
          <p:nvPr/>
        </p:nvSpPr>
        <p:spPr>
          <a:xfrm>
            <a:off x="5174562" y="2957350"/>
            <a:ext cx="7458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Clr>
                <a:srgbClr val="000000"/>
              </a:buClr>
              <a:buSzPts val="1100"/>
              <a:buFont typeface="Arial"/>
              <a:buNone/>
            </a:pPr>
            <a:r>
              <a:rPr b="1" lang="en-GB">
                <a:latin typeface="Lato"/>
                <a:ea typeface="Lato"/>
                <a:cs typeface="Lato"/>
                <a:sym typeface="Lato"/>
              </a:rPr>
              <a:t>May</a:t>
            </a:r>
            <a:endParaRPr b="1">
              <a:latin typeface="Lato"/>
              <a:ea typeface="Lato"/>
              <a:cs typeface="Lato"/>
              <a:sym typeface="Lato"/>
            </a:endParaRPr>
          </a:p>
        </p:txBody>
      </p:sp>
      <p:sp>
        <p:nvSpPr>
          <p:cNvPr id="211" name="Google Shape;211;p25"/>
          <p:cNvSpPr txBox="1"/>
          <p:nvPr>
            <p:ph idx="4294967295" type="body"/>
          </p:nvPr>
        </p:nvSpPr>
        <p:spPr>
          <a:xfrm>
            <a:off x="4224675" y="3826825"/>
            <a:ext cx="2951400" cy="1092900"/>
          </a:xfrm>
          <a:prstGeom prst="rect">
            <a:avLst/>
          </a:prstGeom>
        </p:spPr>
        <p:txBody>
          <a:bodyPr anchorCtr="0" anchor="t" bIns="91425" lIns="91425" spcFirstLastPara="1" rIns="91425" wrap="square" tIns="91425">
            <a:noAutofit/>
          </a:bodyPr>
          <a:lstStyle/>
          <a:p>
            <a:pPr indent="-285750" lvl="0" marL="457200" rtl="0" algn="l">
              <a:lnSpc>
                <a:spcPct val="100000"/>
              </a:lnSpc>
              <a:spcBef>
                <a:spcPts val="0"/>
              </a:spcBef>
              <a:spcAft>
                <a:spcPts val="1000"/>
              </a:spcAft>
              <a:buSzPts val="900"/>
              <a:buChar char="●"/>
            </a:pPr>
            <a:r>
              <a:rPr lang="en-GB" sz="900"/>
              <a:t>Stakeholder feedback gathered. Impact frameworks developed.</a:t>
            </a:r>
            <a:endParaRPr sz="900"/>
          </a:p>
        </p:txBody>
      </p:sp>
      <p:sp>
        <p:nvSpPr>
          <p:cNvPr id="212" name="Google Shape;212;p25"/>
          <p:cNvSpPr txBox="1"/>
          <p:nvPr/>
        </p:nvSpPr>
        <p:spPr>
          <a:xfrm>
            <a:off x="6928638" y="3462416"/>
            <a:ext cx="7458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Clr>
                <a:srgbClr val="000000"/>
              </a:buClr>
              <a:buSzPts val="1100"/>
              <a:buFont typeface="Arial"/>
              <a:buNone/>
            </a:pPr>
            <a:r>
              <a:rPr b="1" lang="en-GB">
                <a:latin typeface="Lato"/>
                <a:ea typeface="Lato"/>
                <a:cs typeface="Lato"/>
                <a:sym typeface="Lato"/>
              </a:rPr>
              <a:t>June</a:t>
            </a:r>
            <a:endParaRPr b="1">
              <a:latin typeface="Lato"/>
              <a:ea typeface="Lato"/>
              <a:cs typeface="Lato"/>
              <a:sym typeface="Lato"/>
            </a:endParaRPr>
          </a:p>
        </p:txBody>
      </p:sp>
      <p:sp>
        <p:nvSpPr>
          <p:cNvPr id="213" name="Google Shape;213;p25"/>
          <p:cNvSpPr txBox="1"/>
          <p:nvPr>
            <p:ph idx="4294967295" type="body"/>
          </p:nvPr>
        </p:nvSpPr>
        <p:spPr>
          <a:xfrm>
            <a:off x="5822250" y="2507871"/>
            <a:ext cx="3158400" cy="829500"/>
          </a:xfrm>
          <a:prstGeom prst="rect">
            <a:avLst/>
          </a:prstGeom>
        </p:spPr>
        <p:txBody>
          <a:bodyPr anchorCtr="0" anchor="t" bIns="91425" lIns="91425" spcFirstLastPara="1" rIns="91425" wrap="square" tIns="91425">
            <a:normAutofit/>
          </a:bodyPr>
          <a:lstStyle/>
          <a:p>
            <a:pPr indent="-292100" lvl="0" marL="457200" rtl="0" algn="l">
              <a:lnSpc>
                <a:spcPct val="90000"/>
              </a:lnSpc>
              <a:spcBef>
                <a:spcPts val="0"/>
              </a:spcBef>
              <a:spcAft>
                <a:spcPts val="1000"/>
              </a:spcAft>
              <a:buSzPts val="1000"/>
              <a:buChar char="●"/>
            </a:pPr>
            <a:r>
              <a:rPr lang="en-GB" sz="1000"/>
              <a:t>Final report and presentation delivered.</a:t>
            </a:r>
            <a:endParaRPr sz="1000"/>
          </a:p>
        </p:txBody>
      </p:sp>
      <p:pic>
        <p:nvPicPr>
          <p:cNvPr descr="shutterstock_429987889_edited.jpg" id="214" name="Google Shape;214;p25"/>
          <p:cNvPicPr preferRelativeResize="0"/>
          <p:nvPr/>
        </p:nvPicPr>
        <p:blipFill rotWithShape="1">
          <a:blip r:embed="rId3">
            <a:alphaModFix/>
          </a:blip>
          <a:srcRect b="6621" l="0" r="0" t="91660"/>
          <a:stretch/>
        </p:blipFill>
        <p:spPr>
          <a:xfrm>
            <a:off x="885125" y="3339575"/>
            <a:ext cx="8265375" cy="132431"/>
          </a:xfrm>
          <a:prstGeom prst="rect">
            <a:avLst/>
          </a:prstGeom>
          <a:noFill/>
          <a:ln>
            <a:noFill/>
          </a:ln>
        </p:spPr>
      </p:pic>
      <p:grpSp>
        <p:nvGrpSpPr>
          <p:cNvPr id="215" name="Google Shape;215;p25"/>
          <p:cNvGrpSpPr/>
          <p:nvPr/>
        </p:nvGrpSpPr>
        <p:grpSpPr>
          <a:xfrm>
            <a:off x="845575" y="3060165"/>
            <a:ext cx="92400" cy="411825"/>
            <a:chOff x="845575" y="2563700"/>
            <a:chExt cx="92400" cy="411825"/>
          </a:xfrm>
        </p:grpSpPr>
        <p:cxnSp>
          <p:nvCxnSpPr>
            <p:cNvPr id="216" name="Google Shape;216;p25"/>
            <p:cNvCxnSpPr/>
            <p:nvPr/>
          </p:nvCxnSpPr>
          <p:spPr>
            <a:xfrm>
              <a:off x="891775" y="2616125"/>
              <a:ext cx="0" cy="359400"/>
            </a:xfrm>
            <a:prstGeom prst="straightConnector1">
              <a:avLst/>
            </a:prstGeom>
            <a:noFill/>
            <a:ln cap="flat" cmpd="sng" w="9525">
              <a:solidFill>
                <a:srgbClr val="000000"/>
              </a:solidFill>
              <a:prstDash val="solid"/>
              <a:round/>
              <a:headEnd len="med" w="med" type="none"/>
              <a:tailEnd len="med" w="med" type="none"/>
            </a:ln>
          </p:spPr>
        </p:cxnSp>
        <p:sp>
          <p:nvSpPr>
            <p:cNvPr id="217" name="Google Shape;217;p25"/>
            <p:cNvSpPr/>
            <p:nvPr/>
          </p:nvSpPr>
          <p:spPr>
            <a:xfrm>
              <a:off x="845575"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8" name="Google Shape;218;p25"/>
          <p:cNvGrpSpPr/>
          <p:nvPr/>
        </p:nvGrpSpPr>
        <p:grpSpPr>
          <a:xfrm rot="10800000">
            <a:off x="2371200" y="3352717"/>
            <a:ext cx="92400" cy="411825"/>
            <a:chOff x="2070100" y="2563700"/>
            <a:chExt cx="92400" cy="411825"/>
          </a:xfrm>
        </p:grpSpPr>
        <p:cxnSp>
          <p:nvCxnSpPr>
            <p:cNvPr id="219" name="Google Shape;219;p25"/>
            <p:cNvCxnSpPr/>
            <p:nvPr/>
          </p:nvCxnSpPr>
          <p:spPr>
            <a:xfrm>
              <a:off x="2116300" y="2616125"/>
              <a:ext cx="0" cy="359400"/>
            </a:xfrm>
            <a:prstGeom prst="straightConnector1">
              <a:avLst/>
            </a:prstGeom>
            <a:noFill/>
            <a:ln cap="flat" cmpd="sng" w="9525">
              <a:solidFill>
                <a:srgbClr val="000000"/>
              </a:solidFill>
              <a:prstDash val="solid"/>
              <a:round/>
              <a:headEnd len="med" w="med" type="none"/>
              <a:tailEnd len="med" w="med" type="none"/>
            </a:ln>
          </p:spPr>
        </p:cxnSp>
        <p:sp>
          <p:nvSpPr>
            <p:cNvPr id="220" name="Google Shape;220;p25"/>
            <p:cNvSpPr/>
            <p:nvPr/>
          </p:nvSpPr>
          <p:spPr>
            <a:xfrm>
              <a:off x="2070100"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1" name="Google Shape;221;p25"/>
          <p:cNvGrpSpPr/>
          <p:nvPr/>
        </p:nvGrpSpPr>
        <p:grpSpPr>
          <a:xfrm>
            <a:off x="3896813" y="2991990"/>
            <a:ext cx="92400" cy="411825"/>
            <a:chOff x="845575" y="2563700"/>
            <a:chExt cx="92400" cy="411825"/>
          </a:xfrm>
        </p:grpSpPr>
        <p:cxnSp>
          <p:nvCxnSpPr>
            <p:cNvPr id="222" name="Google Shape;222;p25"/>
            <p:cNvCxnSpPr/>
            <p:nvPr/>
          </p:nvCxnSpPr>
          <p:spPr>
            <a:xfrm>
              <a:off x="891775" y="2616125"/>
              <a:ext cx="0" cy="359400"/>
            </a:xfrm>
            <a:prstGeom prst="straightConnector1">
              <a:avLst/>
            </a:prstGeom>
            <a:noFill/>
            <a:ln cap="flat" cmpd="sng" w="9525">
              <a:solidFill>
                <a:srgbClr val="000000"/>
              </a:solidFill>
              <a:prstDash val="solid"/>
              <a:round/>
              <a:headEnd len="med" w="med" type="none"/>
              <a:tailEnd len="med" w="med" type="none"/>
            </a:ln>
          </p:spPr>
        </p:cxnSp>
        <p:sp>
          <p:nvSpPr>
            <p:cNvPr id="223" name="Google Shape;223;p25"/>
            <p:cNvSpPr/>
            <p:nvPr/>
          </p:nvSpPr>
          <p:spPr>
            <a:xfrm>
              <a:off x="845575"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4" name="Google Shape;224;p25"/>
          <p:cNvGrpSpPr/>
          <p:nvPr/>
        </p:nvGrpSpPr>
        <p:grpSpPr>
          <a:xfrm rot="10800000">
            <a:off x="5497250" y="3339567"/>
            <a:ext cx="92400" cy="411825"/>
            <a:chOff x="2070100" y="2563700"/>
            <a:chExt cx="92400" cy="411825"/>
          </a:xfrm>
        </p:grpSpPr>
        <p:cxnSp>
          <p:nvCxnSpPr>
            <p:cNvPr id="225" name="Google Shape;225;p25"/>
            <p:cNvCxnSpPr/>
            <p:nvPr/>
          </p:nvCxnSpPr>
          <p:spPr>
            <a:xfrm>
              <a:off x="2116300" y="2616125"/>
              <a:ext cx="0" cy="359400"/>
            </a:xfrm>
            <a:prstGeom prst="straightConnector1">
              <a:avLst/>
            </a:prstGeom>
            <a:noFill/>
            <a:ln cap="flat" cmpd="sng" w="9525">
              <a:solidFill>
                <a:srgbClr val="000000"/>
              </a:solidFill>
              <a:prstDash val="solid"/>
              <a:round/>
              <a:headEnd len="med" w="med" type="none"/>
              <a:tailEnd len="med" w="med" type="none"/>
            </a:ln>
          </p:spPr>
        </p:cxnSp>
        <p:sp>
          <p:nvSpPr>
            <p:cNvPr id="226" name="Google Shape;226;p25"/>
            <p:cNvSpPr/>
            <p:nvPr/>
          </p:nvSpPr>
          <p:spPr>
            <a:xfrm>
              <a:off x="2070100"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7" name="Google Shape;227;p25"/>
          <p:cNvGrpSpPr/>
          <p:nvPr/>
        </p:nvGrpSpPr>
        <p:grpSpPr>
          <a:xfrm>
            <a:off x="7255350" y="3060165"/>
            <a:ext cx="92400" cy="411825"/>
            <a:chOff x="845575" y="2563700"/>
            <a:chExt cx="92400" cy="411825"/>
          </a:xfrm>
        </p:grpSpPr>
        <p:cxnSp>
          <p:nvCxnSpPr>
            <p:cNvPr id="228" name="Google Shape;228;p25"/>
            <p:cNvCxnSpPr/>
            <p:nvPr/>
          </p:nvCxnSpPr>
          <p:spPr>
            <a:xfrm>
              <a:off x="891775" y="2616125"/>
              <a:ext cx="0" cy="359400"/>
            </a:xfrm>
            <a:prstGeom prst="straightConnector1">
              <a:avLst/>
            </a:prstGeom>
            <a:noFill/>
            <a:ln cap="flat" cmpd="sng" w="9525">
              <a:solidFill>
                <a:srgbClr val="000000"/>
              </a:solidFill>
              <a:prstDash val="solid"/>
              <a:round/>
              <a:headEnd len="med" w="med" type="none"/>
              <a:tailEnd len="med" w="med" type="none"/>
            </a:ln>
          </p:spPr>
        </p:cxnSp>
        <p:sp>
          <p:nvSpPr>
            <p:cNvPr id="229" name="Google Shape;229;p25"/>
            <p:cNvSpPr/>
            <p:nvPr/>
          </p:nvSpPr>
          <p:spPr>
            <a:xfrm>
              <a:off x="845575"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0" name="Google Shape;230;p2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34343"/>
        </a:solidFill>
      </p:bgPr>
    </p:bg>
    <p:spTree>
      <p:nvGrpSpPr>
        <p:cNvPr id="234" name="Shape 234"/>
        <p:cNvGrpSpPr/>
        <p:nvPr/>
      </p:nvGrpSpPr>
      <p:grpSpPr>
        <a:xfrm>
          <a:off x="0" y="0"/>
          <a:ext cx="0" cy="0"/>
          <a:chOff x="0" y="0"/>
          <a:chExt cx="0" cy="0"/>
        </a:xfrm>
      </p:grpSpPr>
      <p:sp>
        <p:nvSpPr>
          <p:cNvPr id="235" name="Google Shape;235;p26"/>
          <p:cNvSpPr txBox="1"/>
          <p:nvPr>
            <p:ph type="title"/>
          </p:nvPr>
        </p:nvSpPr>
        <p:spPr>
          <a:xfrm>
            <a:off x="729450" y="1322450"/>
            <a:ext cx="7010100" cy="350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1200"/>
              <a:t>Conclusion</a:t>
            </a:r>
            <a:endParaRPr sz="1200"/>
          </a:p>
        </p:txBody>
      </p:sp>
      <p:sp>
        <p:nvSpPr>
          <p:cNvPr id="236" name="Google Shape;236;p26"/>
          <p:cNvSpPr txBox="1"/>
          <p:nvPr>
            <p:ph idx="4294967295" type="body"/>
          </p:nvPr>
        </p:nvSpPr>
        <p:spPr>
          <a:xfrm>
            <a:off x="729450" y="1749350"/>
            <a:ext cx="7010100" cy="2628300"/>
          </a:xfrm>
          <a:prstGeom prst="rect">
            <a:avLst/>
          </a:prstGeom>
        </p:spPr>
        <p:txBody>
          <a:bodyPr anchorCtr="0" anchor="t" bIns="91425" lIns="91425" spcFirstLastPara="1" rIns="91425" wrap="square" tIns="91425">
            <a:normAutofit fontScale="47500" lnSpcReduction="20000"/>
          </a:bodyPr>
          <a:lstStyle/>
          <a:p>
            <a:pPr indent="-340201" lvl="0" marL="457200" rtl="0" algn="l">
              <a:spcBef>
                <a:spcPts val="0"/>
              </a:spcBef>
              <a:spcAft>
                <a:spcPts val="0"/>
              </a:spcAft>
              <a:buClr>
                <a:srgbClr val="FFFFFF"/>
              </a:buClr>
              <a:buSzPct val="100000"/>
              <a:buChar char="●"/>
            </a:pPr>
            <a:r>
              <a:rPr lang="en-GB" sz="3700">
                <a:solidFill>
                  <a:srgbClr val="FFFFFF"/>
                </a:solidFill>
              </a:rPr>
              <a:t>Provide data-driven insights to help OneApp improve housing access and manage risk.</a:t>
            </a:r>
            <a:endParaRPr sz="3700">
              <a:solidFill>
                <a:srgbClr val="FFFFFF"/>
              </a:solidFill>
            </a:endParaRPr>
          </a:p>
          <a:p>
            <a:pPr indent="0" lvl="0" marL="457200" rtl="0" algn="l">
              <a:spcBef>
                <a:spcPts val="0"/>
              </a:spcBef>
              <a:spcAft>
                <a:spcPts val="0"/>
              </a:spcAft>
              <a:buNone/>
            </a:pPr>
            <a:r>
              <a:t/>
            </a:r>
            <a:endParaRPr sz="3700">
              <a:solidFill>
                <a:srgbClr val="FFFFFF"/>
              </a:solidFill>
            </a:endParaRPr>
          </a:p>
          <a:p>
            <a:pPr indent="-340201" lvl="0" marL="457200" rtl="0" algn="l">
              <a:spcBef>
                <a:spcPts val="0"/>
              </a:spcBef>
              <a:spcAft>
                <a:spcPts val="0"/>
              </a:spcAft>
              <a:buClr>
                <a:srgbClr val="FFFFFF"/>
              </a:buClr>
              <a:buSzPct val="100000"/>
              <a:buChar char="●"/>
            </a:pPr>
            <a:r>
              <a:rPr lang="en-GB" sz="3700">
                <a:solidFill>
                  <a:srgbClr val="FFFFFF"/>
                </a:solidFill>
              </a:rPr>
              <a:t>Translate early findings into actionable strategies and recommendations.</a:t>
            </a:r>
            <a:endParaRPr sz="3700">
              <a:solidFill>
                <a:srgbClr val="FFFFFF"/>
              </a:solidFill>
            </a:endParaRPr>
          </a:p>
          <a:p>
            <a:pPr indent="0" lvl="0" marL="457200" rtl="0" algn="l">
              <a:spcBef>
                <a:spcPts val="0"/>
              </a:spcBef>
              <a:spcAft>
                <a:spcPts val="0"/>
              </a:spcAft>
              <a:buNone/>
            </a:pPr>
            <a:r>
              <a:t/>
            </a:r>
            <a:endParaRPr sz="3700">
              <a:solidFill>
                <a:srgbClr val="FFFFFF"/>
              </a:solidFill>
            </a:endParaRPr>
          </a:p>
          <a:p>
            <a:pPr indent="-340201" lvl="0" marL="457200" rtl="0" algn="l">
              <a:spcBef>
                <a:spcPts val="0"/>
              </a:spcBef>
              <a:spcAft>
                <a:spcPts val="0"/>
              </a:spcAft>
              <a:buClr>
                <a:srgbClr val="FFFFFF"/>
              </a:buClr>
              <a:buSzPct val="100000"/>
              <a:buChar char="●"/>
            </a:pPr>
            <a:r>
              <a:rPr lang="en-GB" sz="3700">
                <a:solidFill>
                  <a:srgbClr val="FFFFFF"/>
                </a:solidFill>
              </a:rPr>
              <a:t>Deliver dashboards and impact measurement tools to support future growth.</a:t>
            </a:r>
            <a:endParaRPr sz="3700">
              <a:solidFill>
                <a:srgbClr val="FFFFFF"/>
              </a:solidFill>
            </a:endParaRPr>
          </a:p>
          <a:p>
            <a:pPr indent="0" lvl="0" marL="0" rtl="0" algn="l">
              <a:spcBef>
                <a:spcPts val="0"/>
              </a:spcBef>
              <a:spcAft>
                <a:spcPts val="0"/>
              </a:spcAft>
              <a:buNone/>
            </a:pPr>
            <a:r>
              <a:t/>
            </a:r>
            <a:endParaRPr sz="1900">
              <a:solidFill>
                <a:srgbClr val="FFFFFF"/>
              </a:solidFill>
            </a:endParaRPr>
          </a:p>
          <a:p>
            <a:pPr indent="0" lvl="0" marL="0" rtl="0" algn="l">
              <a:spcBef>
                <a:spcPts val="1200"/>
              </a:spcBef>
              <a:spcAft>
                <a:spcPts val="1200"/>
              </a:spcAft>
              <a:buNone/>
            </a:pPr>
            <a:r>
              <a:t/>
            </a:r>
            <a:endParaRPr sz="1700">
              <a:solidFill>
                <a:srgbClr val="FFFFFF"/>
              </a:solidFill>
            </a:endParaRPr>
          </a:p>
        </p:txBody>
      </p:sp>
      <p:sp>
        <p:nvSpPr>
          <p:cNvPr id="237" name="Google Shape;237;p2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7"/>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4800">
                <a:solidFill>
                  <a:srgbClr val="000000"/>
                </a:solidFill>
              </a:rPr>
              <a:t>Thank you!</a:t>
            </a:r>
            <a:endParaRPr/>
          </a:p>
        </p:txBody>
      </p:sp>
      <p:sp>
        <p:nvSpPr>
          <p:cNvPr id="243" name="Google Shape;243;p2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